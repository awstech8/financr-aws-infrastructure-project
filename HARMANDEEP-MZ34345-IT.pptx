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0280" autoAdjust="0"/>
  </p:normalViewPr>
  <p:slideViewPr>
    <p:cSldViewPr snapToGrid="0">
      <p:cViewPr varScale="1">
        <p:scale>
          <a:sx n="68" d="100"/>
          <a:sy n="68" d="100"/>
        </p:scale>
        <p:origin x="123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27EA06-2F0F-4BD4-84FE-D8F2DF0B7CF0}" type="datetimeFigureOut">
              <a:rPr lang="en-US" smtClean="0"/>
              <a:t>2/28/2026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B17ADF-E1F2-4D15-AEC8-0268FBDD5E20}" type="slidenum">
              <a:rPr lang="en-US" smtClean="0"/>
              <a:t>‹#›</a:t>
            </a:fld>
            <a:endParaRPr lang="en-US"/>
          </a:p>
        </p:txBody>
      </p:sp>
    </p:spTree>
    <p:extLst>
      <p:ext uri="{BB962C8B-B14F-4D97-AF65-F5344CB8AC3E}">
        <p14:creationId xmlns:p14="http://schemas.microsoft.com/office/powerpoint/2010/main" val="5988439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Financr</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is planning to resolve its main weaknesses in its London infrastructure by transitioning monolithic applications and PostgreSQL databases to AWS. This transition is low in maintenance and long-lasting. The IT team reduces overhead administration but makes the platform secure, compliant and able to be used heavily in the future by using managed services.</a:t>
            </a:r>
          </a:p>
          <a:p>
            <a:endParaRPr lang="en-US" dirty="0"/>
          </a:p>
        </p:txBody>
      </p:sp>
      <p:sp>
        <p:nvSpPr>
          <p:cNvPr id="4" name="Slide Number Placeholder 3"/>
          <p:cNvSpPr>
            <a:spLocks noGrp="1"/>
          </p:cNvSpPr>
          <p:nvPr>
            <p:ph type="sldNum" sz="quarter" idx="5"/>
          </p:nvPr>
        </p:nvSpPr>
        <p:spPr/>
        <p:txBody>
          <a:bodyPr/>
          <a:lstStyle/>
          <a:p>
            <a:fld id="{2CB17ADF-E1F2-4D15-AEC8-0268FBDD5E20}" type="slidenum">
              <a:rPr lang="en-US" smtClean="0"/>
              <a:t>2</a:t>
            </a:fld>
            <a:endParaRPr lang="en-US"/>
          </a:p>
        </p:txBody>
      </p:sp>
    </p:spTree>
    <p:extLst>
      <p:ext uri="{BB962C8B-B14F-4D97-AF65-F5344CB8AC3E}">
        <p14:creationId xmlns:p14="http://schemas.microsoft.com/office/powerpoint/2010/main" val="33027652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Existing infrastructure is no longer sufficient as there is massive growth in the number of users. The monolithic systems lack scalability hence leading to high service failures. The financial management user experience is compromised by the on-premises database latency issues.</a:t>
            </a:r>
          </a:p>
          <a:p>
            <a:endParaRPr lang="en-US" dirty="0"/>
          </a:p>
        </p:txBody>
      </p:sp>
      <p:sp>
        <p:nvSpPr>
          <p:cNvPr id="4" name="Slide Number Placeholder 3"/>
          <p:cNvSpPr>
            <a:spLocks noGrp="1"/>
          </p:cNvSpPr>
          <p:nvPr>
            <p:ph type="sldNum" sz="quarter" idx="5"/>
          </p:nvPr>
        </p:nvSpPr>
        <p:spPr/>
        <p:txBody>
          <a:bodyPr/>
          <a:lstStyle/>
          <a:p>
            <a:fld id="{2CB17ADF-E1F2-4D15-AEC8-0268FBDD5E20}" type="slidenum">
              <a:rPr lang="en-US" smtClean="0"/>
              <a:t>3</a:t>
            </a:fld>
            <a:endParaRPr lang="en-US"/>
          </a:p>
        </p:txBody>
      </p:sp>
    </p:spTree>
    <p:extLst>
      <p:ext uri="{BB962C8B-B14F-4D97-AF65-F5344CB8AC3E}">
        <p14:creationId xmlns:p14="http://schemas.microsoft.com/office/powerpoint/2010/main" val="6722870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architecture is multi-tier to ensure that it offers the best reliability to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Financr</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Custom VPC provides network-isolation. The data tier is under RDS instances and the compute layer is under an automated scaling group.</a:t>
            </a:r>
          </a:p>
          <a:p>
            <a:endParaRPr lang="en-US" dirty="0"/>
          </a:p>
        </p:txBody>
      </p:sp>
      <p:sp>
        <p:nvSpPr>
          <p:cNvPr id="4" name="Slide Number Placeholder 3"/>
          <p:cNvSpPr>
            <a:spLocks noGrp="1"/>
          </p:cNvSpPr>
          <p:nvPr>
            <p:ph type="sldNum" sz="quarter" idx="5"/>
          </p:nvPr>
        </p:nvSpPr>
        <p:spPr/>
        <p:txBody>
          <a:bodyPr/>
          <a:lstStyle/>
          <a:p>
            <a:fld id="{2CB17ADF-E1F2-4D15-AEC8-0268FBDD5E20}" type="slidenum">
              <a:rPr lang="en-US" smtClean="0"/>
              <a:t>4</a:t>
            </a:fld>
            <a:endParaRPr lang="en-US"/>
          </a:p>
        </p:txBody>
      </p:sp>
    </p:spTree>
    <p:extLst>
      <p:ext uri="{BB962C8B-B14F-4D97-AF65-F5344CB8AC3E}">
        <p14:creationId xmlns:p14="http://schemas.microsoft.com/office/powerpoint/2010/main" val="32149227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virtual private cloud on which the migration to the cloud is premised is custom. The platform will be resilient to local outages since the six availability zones will be used. The approach eliminates single points of failure, which puts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Financr</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in down time.</a:t>
            </a:r>
          </a:p>
          <a:p>
            <a:endParaRPr lang="en-US" dirty="0"/>
          </a:p>
        </p:txBody>
      </p:sp>
      <p:sp>
        <p:nvSpPr>
          <p:cNvPr id="4" name="Slide Number Placeholder 3"/>
          <p:cNvSpPr>
            <a:spLocks noGrp="1"/>
          </p:cNvSpPr>
          <p:nvPr>
            <p:ph type="sldNum" sz="quarter" idx="5"/>
          </p:nvPr>
        </p:nvSpPr>
        <p:spPr/>
        <p:txBody>
          <a:bodyPr/>
          <a:lstStyle/>
          <a:p>
            <a:fld id="{2CB17ADF-E1F2-4D15-AEC8-0268FBDD5E20}" type="slidenum">
              <a:rPr lang="en-US" smtClean="0"/>
              <a:t>5</a:t>
            </a:fld>
            <a:endParaRPr lang="en-US"/>
          </a:p>
        </p:txBody>
      </p:sp>
    </p:spTree>
    <p:extLst>
      <p:ext uri="{BB962C8B-B14F-4D97-AF65-F5344CB8AC3E}">
        <p14:creationId xmlns:p14="http://schemas.microsoft.com/office/powerpoint/2010/main" val="11952000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compute layer utilizes Auto Scaling Group to manage a pool of Linux servers. The templates of a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standardised</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launch ensure that the instances are configured identically with the necessary web software. The group has at least two healthy group cases.</a:t>
            </a:r>
          </a:p>
          <a:p>
            <a:endParaRPr lang="en-US" dirty="0"/>
          </a:p>
        </p:txBody>
      </p:sp>
      <p:sp>
        <p:nvSpPr>
          <p:cNvPr id="4" name="Slide Number Placeholder 3"/>
          <p:cNvSpPr>
            <a:spLocks noGrp="1"/>
          </p:cNvSpPr>
          <p:nvPr>
            <p:ph type="sldNum" sz="quarter" idx="5"/>
          </p:nvPr>
        </p:nvSpPr>
        <p:spPr/>
        <p:txBody>
          <a:bodyPr/>
          <a:lstStyle/>
          <a:p>
            <a:fld id="{2CB17ADF-E1F2-4D15-AEC8-0268FBDD5E20}" type="slidenum">
              <a:rPr lang="en-US" smtClean="0"/>
              <a:t>6</a:t>
            </a:fld>
            <a:endParaRPr lang="en-US"/>
          </a:p>
        </p:txBody>
      </p:sp>
    </p:spTree>
    <p:extLst>
      <p:ext uri="{BB962C8B-B14F-4D97-AF65-F5344CB8AC3E}">
        <p14:creationId xmlns:p14="http://schemas.microsoft.com/office/powerpoint/2010/main" val="23268067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Financer clients will be directed to Application Load Balancer. It is disseminated across different subnets in the public to be available. The load balancer undertakes a continuous health check of the backup instances through which traffic is automatically redirected to the non-responsive servers.</a:t>
            </a:r>
          </a:p>
          <a:p>
            <a:endParaRPr lang="en-US" dirty="0"/>
          </a:p>
        </p:txBody>
      </p:sp>
      <p:sp>
        <p:nvSpPr>
          <p:cNvPr id="4" name="Slide Number Placeholder 3"/>
          <p:cNvSpPr>
            <a:spLocks noGrp="1"/>
          </p:cNvSpPr>
          <p:nvPr>
            <p:ph type="sldNum" sz="quarter" idx="5"/>
          </p:nvPr>
        </p:nvSpPr>
        <p:spPr/>
        <p:txBody>
          <a:bodyPr/>
          <a:lstStyle/>
          <a:p>
            <a:fld id="{2CB17ADF-E1F2-4D15-AEC8-0268FBDD5E20}" type="slidenum">
              <a:rPr lang="en-US" smtClean="0"/>
              <a:t>7</a:t>
            </a:fld>
            <a:endParaRPr lang="en-US"/>
          </a:p>
        </p:txBody>
      </p:sp>
    </p:spTree>
    <p:extLst>
      <p:ext uri="{BB962C8B-B14F-4D97-AF65-F5344CB8AC3E}">
        <p14:creationId xmlns:p14="http://schemas.microsoft.com/office/powerpoint/2010/main" val="23469075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privacy of information is paramount to this FinTech start up. The migration to the Amazon RDS PostgreSQL provides multi-AZ deployment to prevent automatic failure. RDS promotes a backup instance in a different zone in case of failure of a primary database.</a:t>
            </a:r>
          </a:p>
          <a:p>
            <a:endParaRPr lang="en-US" dirty="0"/>
          </a:p>
        </p:txBody>
      </p:sp>
      <p:sp>
        <p:nvSpPr>
          <p:cNvPr id="4" name="Slide Number Placeholder 3"/>
          <p:cNvSpPr>
            <a:spLocks noGrp="1"/>
          </p:cNvSpPr>
          <p:nvPr>
            <p:ph type="sldNum" sz="quarter" idx="5"/>
          </p:nvPr>
        </p:nvSpPr>
        <p:spPr/>
        <p:txBody>
          <a:bodyPr/>
          <a:lstStyle/>
          <a:p>
            <a:fld id="{2CB17ADF-E1F2-4D15-AEC8-0268FBDD5E20}" type="slidenum">
              <a:rPr lang="en-US" smtClean="0"/>
              <a:t>8</a:t>
            </a:fld>
            <a:endParaRPr lang="en-US"/>
          </a:p>
        </p:txBody>
      </p:sp>
    </p:spTree>
    <p:extLst>
      <p:ext uri="{BB962C8B-B14F-4D97-AF65-F5344CB8AC3E}">
        <p14:creationId xmlns:p14="http://schemas.microsoft.com/office/powerpoint/2010/main" val="17988661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Amazon EFS modernizes rigid on-premise storage using a regional file system that is flexible. This shared storage is also automated and is scaled according to the size of data demands. EFS may be attached to the entire Auto Scaling Group to allow all web servers to use the same files simultaneously.</a:t>
            </a:r>
          </a:p>
          <a:p>
            <a:endParaRPr lang="en-US" dirty="0"/>
          </a:p>
        </p:txBody>
      </p:sp>
      <p:sp>
        <p:nvSpPr>
          <p:cNvPr id="4" name="Slide Number Placeholder 3"/>
          <p:cNvSpPr>
            <a:spLocks noGrp="1"/>
          </p:cNvSpPr>
          <p:nvPr>
            <p:ph type="sldNum" sz="quarter" idx="5"/>
          </p:nvPr>
        </p:nvSpPr>
        <p:spPr/>
        <p:txBody>
          <a:bodyPr/>
          <a:lstStyle/>
          <a:p>
            <a:fld id="{2CB17ADF-E1F2-4D15-AEC8-0268FBDD5E20}" type="slidenum">
              <a:rPr lang="en-US" smtClean="0"/>
              <a:t>9</a:t>
            </a:fld>
            <a:endParaRPr lang="en-US"/>
          </a:p>
        </p:txBody>
      </p:sp>
    </p:spTree>
    <p:extLst>
      <p:ext uri="{BB962C8B-B14F-4D97-AF65-F5344CB8AC3E}">
        <p14:creationId xmlns:p14="http://schemas.microsoft.com/office/powerpoint/2010/main" val="42475567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AWS Managed Microsoft AD makes it possible to switch to a familiar directory structure with cloud reliability. The platform is deployed in a two-zone highly-available environment. Authentication and resource access control exists in this directory.</a:t>
            </a:r>
          </a:p>
          <a:p>
            <a:endParaRPr lang="en-US" dirty="0"/>
          </a:p>
        </p:txBody>
      </p:sp>
      <p:sp>
        <p:nvSpPr>
          <p:cNvPr id="4" name="Slide Number Placeholder 3"/>
          <p:cNvSpPr>
            <a:spLocks noGrp="1"/>
          </p:cNvSpPr>
          <p:nvPr>
            <p:ph type="sldNum" sz="quarter" idx="5"/>
          </p:nvPr>
        </p:nvSpPr>
        <p:spPr/>
        <p:txBody>
          <a:bodyPr/>
          <a:lstStyle/>
          <a:p>
            <a:fld id="{2CB17ADF-E1F2-4D15-AEC8-0268FBDD5E20}" type="slidenum">
              <a:rPr lang="en-US" smtClean="0"/>
              <a:t>10</a:t>
            </a:fld>
            <a:endParaRPr lang="en-US"/>
          </a:p>
        </p:txBody>
      </p:sp>
    </p:spTree>
    <p:extLst>
      <p:ext uri="{BB962C8B-B14F-4D97-AF65-F5344CB8AC3E}">
        <p14:creationId xmlns:p14="http://schemas.microsoft.com/office/powerpoint/2010/main" val="13075326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Security follows the layered approach to ensure that sensitive financial information is not compromised. The only safe point of entry of administrators of personal resources is a windows bastion host. Components protection is performed according to the least privilege principle and application of some security groups.</a:t>
            </a:r>
          </a:p>
          <a:p>
            <a:endParaRPr lang="en-US" dirty="0"/>
          </a:p>
        </p:txBody>
      </p:sp>
      <p:sp>
        <p:nvSpPr>
          <p:cNvPr id="4" name="Slide Number Placeholder 3"/>
          <p:cNvSpPr>
            <a:spLocks noGrp="1"/>
          </p:cNvSpPr>
          <p:nvPr>
            <p:ph type="sldNum" sz="quarter" idx="5"/>
          </p:nvPr>
        </p:nvSpPr>
        <p:spPr/>
        <p:txBody>
          <a:bodyPr/>
          <a:lstStyle/>
          <a:p>
            <a:fld id="{2CB17ADF-E1F2-4D15-AEC8-0268FBDD5E20}" type="slidenum">
              <a:rPr lang="en-US" smtClean="0"/>
              <a:t>11</a:t>
            </a:fld>
            <a:endParaRPr lang="en-US"/>
          </a:p>
        </p:txBody>
      </p:sp>
    </p:spTree>
    <p:extLst>
      <p:ext uri="{BB962C8B-B14F-4D97-AF65-F5344CB8AC3E}">
        <p14:creationId xmlns:p14="http://schemas.microsoft.com/office/powerpoint/2010/main" val="22413035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governance is enforced with the help of Active Directory and Group Policy Objects. Specific groups deal with DevOps, Analyst and Support staff permissions. The non-admin users will also not be permitted to modify the network settings on the bastion host by a GPO.</a:t>
            </a:r>
          </a:p>
          <a:p>
            <a:endParaRPr lang="en-US" dirty="0"/>
          </a:p>
        </p:txBody>
      </p:sp>
      <p:sp>
        <p:nvSpPr>
          <p:cNvPr id="4" name="Slide Number Placeholder 3"/>
          <p:cNvSpPr>
            <a:spLocks noGrp="1"/>
          </p:cNvSpPr>
          <p:nvPr>
            <p:ph type="sldNum" sz="quarter" idx="5"/>
          </p:nvPr>
        </p:nvSpPr>
        <p:spPr/>
        <p:txBody>
          <a:bodyPr/>
          <a:lstStyle/>
          <a:p>
            <a:fld id="{2CB17ADF-E1F2-4D15-AEC8-0268FBDD5E20}" type="slidenum">
              <a:rPr lang="en-US" smtClean="0"/>
              <a:t>12</a:t>
            </a:fld>
            <a:endParaRPr lang="en-US"/>
          </a:p>
        </p:txBody>
      </p:sp>
    </p:spTree>
    <p:extLst>
      <p:ext uri="{BB962C8B-B14F-4D97-AF65-F5344CB8AC3E}">
        <p14:creationId xmlns:p14="http://schemas.microsoft.com/office/powerpoint/2010/main" val="10455292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High availability is the nature of this AWS migration. The resilience of the system to data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centre</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failures is due to the allocation of the resources in six zones. Self-healing compute fleets and automated database failover achieve high service levels.</a:t>
            </a:r>
          </a:p>
          <a:p>
            <a:endParaRPr lang="en-US" dirty="0"/>
          </a:p>
        </p:txBody>
      </p:sp>
      <p:sp>
        <p:nvSpPr>
          <p:cNvPr id="4" name="Slide Number Placeholder 3"/>
          <p:cNvSpPr>
            <a:spLocks noGrp="1"/>
          </p:cNvSpPr>
          <p:nvPr>
            <p:ph type="sldNum" sz="quarter" idx="5"/>
          </p:nvPr>
        </p:nvSpPr>
        <p:spPr/>
        <p:txBody>
          <a:bodyPr/>
          <a:lstStyle/>
          <a:p>
            <a:fld id="{2CB17ADF-E1F2-4D15-AEC8-0268FBDD5E20}" type="slidenum">
              <a:rPr lang="en-US" smtClean="0"/>
              <a:t>13</a:t>
            </a:fld>
            <a:endParaRPr lang="en-US"/>
          </a:p>
        </p:txBody>
      </p:sp>
    </p:spTree>
    <p:extLst>
      <p:ext uri="{BB962C8B-B14F-4D97-AF65-F5344CB8AC3E}">
        <p14:creationId xmlns:p14="http://schemas.microsoft.com/office/powerpoint/2010/main" val="19103685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 comparison of the new cloud architecture with the old one reveals that it has much to offer. The startup is no longer investing in non-productive physical servers. They are instead relying on an elastic and pay-as-you-go approach, which is growing with success.</a:t>
            </a:r>
          </a:p>
          <a:p>
            <a:endParaRPr lang="en-US" dirty="0"/>
          </a:p>
        </p:txBody>
      </p:sp>
      <p:sp>
        <p:nvSpPr>
          <p:cNvPr id="4" name="Slide Number Placeholder 3"/>
          <p:cNvSpPr>
            <a:spLocks noGrp="1"/>
          </p:cNvSpPr>
          <p:nvPr>
            <p:ph type="sldNum" sz="quarter" idx="5"/>
          </p:nvPr>
        </p:nvSpPr>
        <p:spPr/>
        <p:txBody>
          <a:bodyPr/>
          <a:lstStyle/>
          <a:p>
            <a:fld id="{2CB17ADF-E1F2-4D15-AEC8-0268FBDD5E20}" type="slidenum">
              <a:rPr lang="en-US" smtClean="0"/>
              <a:t>14</a:t>
            </a:fld>
            <a:endParaRPr lang="en-US"/>
          </a:p>
        </p:txBody>
      </p:sp>
    </p:spTree>
    <p:extLst>
      <p:ext uri="{BB962C8B-B14F-4D97-AF65-F5344CB8AC3E}">
        <p14:creationId xmlns:p14="http://schemas.microsoft.com/office/powerpoint/2010/main" val="16040594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Lastly, the transformation to AWS has been capable of redefining IT competencies at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Financr</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Critical weaknesses include the high availability, scalability, and security of the new infrastructure. Strategic recommendations would include the use of NAT Gateways so as to isolate the private instances further. Overall, this architecture provides the necessary reliability and performance to make the industry expansion ambitious.</a:t>
            </a:r>
          </a:p>
          <a:p>
            <a:endParaRPr lang="en-US" dirty="0"/>
          </a:p>
        </p:txBody>
      </p:sp>
      <p:sp>
        <p:nvSpPr>
          <p:cNvPr id="4" name="Slide Number Placeholder 3"/>
          <p:cNvSpPr>
            <a:spLocks noGrp="1"/>
          </p:cNvSpPr>
          <p:nvPr>
            <p:ph type="sldNum" sz="quarter" idx="5"/>
          </p:nvPr>
        </p:nvSpPr>
        <p:spPr/>
        <p:txBody>
          <a:bodyPr/>
          <a:lstStyle/>
          <a:p>
            <a:fld id="{2CB17ADF-E1F2-4D15-AEC8-0268FBDD5E20}" type="slidenum">
              <a:rPr lang="en-US" smtClean="0"/>
              <a:t>15</a:t>
            </a:fld>
            <a:endParaRPr lang="en-US"/>
          </a:p>
        </p:txBody>
      </p:sp>
    </p:spTree>
    <p:extLst>
      <p:ext uri="{BB962C8B-B14F-4D97-AF65-F5344CB8AC3E}">
        <p14:creationId xmlns:p14="http://schemas.microsoft.com/office/powerpoint/2010/main" val="31205699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technical prototype is already operational, and it can withstand every requirement. The architecture is demonstrated to be successful based on the demonstrations of the use of load balancer, the shared storage and directory services. The subsequent processes involve the performance load testing to streamline auto-scaling thresholds. This will ensure that the platform is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optimised</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before carrying out live financial transactions.</a:t>
            </a:r>
          </a:p>
          <a:p>
            <a:endParaRPr lang="en-US" dirty="0"/>
          </a:p>
        </p:txBody>
      </p:sp>
      <p:sp>
        <p:nvSpPr>
          <p:cNvPr id="4" name="Slide Number Placeholder 3"/>
          <p:cNvSpPr>
            <a:spLocks noGrp="1"/>
          </p:cNvSpPr>
          <p:nvPr>
            <p:ph type="sldNum" sz="quarter" idx="5"/>
          </p:nvPr>
        </p:nvSpPr>
        <p:spPr/>
        <p:txBody>
          <a:bodyPr/>
          <a:lstStyle/>
          <a:p>
            <a:fld id="{2CB17ADF-E1F2-4D15-AEC8-0268FBDD5E20}" type="slidenum">
              <a:rPr lang="en-US" smtClean="0"/>
              <a:t>16</a:t>
            </a:fld>
            <a:endParaRPr lang="en-US"/>
          </a:p>
        </p:txBody>
      </p:sp>
    </p:spTree>
    <p:extLst>
      <p:ext uri="{BB962C8B-B14F-4D97-AF65-F5344CB8AC3E}">
        <p14:creationId xmlns:p14="http://schemas.microsoft.com/office/powerpoint/2010/main" val="15018435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A245D6E-A283-430D-81D6-118C876DE17F}"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EBE0F8-38D6-4176-9851-78F5458ED042}" type="slidenum">
              <a:rPr lang="en-US" smtClean="0"/>
              <a:t>‹#›</a:t>
            </a:fld>
            <a:endParaRPr lang="en-US"/>
          </a:p>
        </p:txBody>
      </p:sp>
    </p:spTree>
    <p:extLst>
      <p:ext uri="{BB962C8B-B14F-4D97-AF65-F5344CB8AC3E}">
        <p14:creationId xmlns:p14="http://schemas.microsoft.com/office/powerpoint/2010/main" val="3942240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245D6E-A283-430D-81D6-118C876DE17F}"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EBE0F8-38D6-4176-9851-78F5458ED042}" type="slidenum">
              <a:rPr lang="en-US" smtClean="0"/>
              <a:t>‹#›</a:t>
            </a:fld>
            <a:endParaRPr lang="en-US"/>
          </a:p>
        </p:txBody>
      </p:sp>
    </p:spTree>
    <p:extLst>
      <p:ext uri="{BB962C8B-B14F-4D97-AF65-F5344CB8AC3E}">
        <p14:creationId xmlns:p14="http://schemas.microsoft.com/office/powerpoint/2010/main" val="4473467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245D6E-A283-430D-81D6-118C876DE17F}"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EBE0F8-38D6-4176-9851-78F5458ED042}" type="slidenum">
              <a:rPr lang="en-US" smtClean="0"/>
              <a:t>‹#›</a:t>
            </a:fld>
            <a:endParaRPr lang="en-US"/>
          </a:p>
        </p:txBody>
      </p:sp>
    </p:spTree>
    <p:extLst>
      <p:ext uri="{BB962C8B-B14F-4D97-AF65-F5344CB8AC3E}">
        <p14:creationId xmlns:p14="http://schemas.microsoft.com/office/powerpoint/2010/main" val="3029176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A245D6E-A283-430D-81D6-118C876DE17F}" type="datetimeFigureOut">
              <a:rPr lang="en-US" smtClean="0"/>
              <a:t>2/28/2026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EBE0F8-38D6-4176-9851-78F5458ED042}" type="slidenum">
              <a:rPr lang="en-US" smtClean="0"/>
              <a:t>‹#›</a:t>
            </a:fld>
            <a:endParaRPr lang="en-US"/>
          </a:p>
        </p:txBody>
      </p:sp>
    </p:spTree>
    <p:extLst>
      <p:ext uri="{BB962C8B-B14F-4D97-AF65-F5344CB8AC3E}">
        <p14:creationId xmlns:p14="http://schemas.microsoft.com/office/powerpoint/2010/main" val="19962860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A245D6E-A283-430D-81D6-118C876DE17F}" type="datetimeFigureOut">
              <a:rPr lang="en-US" smtClean="0"/>
              <a:t>2/28/2026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7EBE0F8-38D6-4176-9851-78F5458ED042}" type="slidenum">
              <a:rPr lang="en-US" smtClean="0"/>
              <a:t>‹#›</a:t>
            </a:fld>
            <a:endParaRPr lang="en-US"/>
          </a:p>
        </p:txBody>
      </p:sp>
    </p:spTree>
    <p:extLst>
      <p:ext uri="{BB962C8B-B14F-4D97-AF65-F5344CB8AC3E}">
        <p14:creationId xmlns:p14="http://schemas.microsoft.com/office/powerpoint/2010/main" val="1530690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A245D6E-A283-430D-81D6-118C876DE17F}" type="datetimeFigureOut">
              <a:rPr lang="en-US" smtClean="0"/>
              <a:t>2/28/2026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7EBE0F8-38D6-4176-9851-78F5458ED042}" type="slidenum">
              <a:rPr lang="en-US" smtClean="0"/>
              <a:t>‹#›</a:t>
            </a:fld>
            <a:endParaRPr lang="en-US"/>
          </a:p>
        </p:txBody>
      </p:sp>
    </p:spTree>
    <p:extLst>
      <p:ext uri="{BB962C8B-B14F-4D97-AF65-F5344CB8AC3E}">
        <p14:creationId xmlns:p14="http://schemas.microsoft.com/office/powerpoint/2010/main" val="19761485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245D6E-A283-430D-81D6-118C876DE17F}" type="datetimeFigureOut">
              <a:rPr lang="en-US" smtClean="0"/>
              <a:t>2/28/2026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7EBE0F8-38D6-4176-9851-78F5458ED042}" type="slidenum">
              <a:rPr lang="en-US" smtClean="0"/>
              <a:t>‹#›</a:t>
            </a:fld>
            <a:endParaRPr lang="en-US"/>
          </a:p>
        </p:txBody>
      </p:sp>
    </p:spTree>
    <p:extLst>
      <p:ext uri="{BB962C8B-B14F-4D97-AF65-F5344CB8AC3E}">
        <p14:creationId xmlns:p14="http://schemas.microsoft.com/office/powerpoint/2010/main" val="36109352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A245D6E-A283-430D-81D6-118C876DE17F}" type="datetimeFigureOut">
              <a:rPr lang="en-US" smtClean="0"/>
              <a:t>2/28/2026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EBE0F8-38D6-4176-9851-78F5458ED042}" type="slidenum">
              <a:rPr lang="en-US" smtClean="0"/>
              <a:t>‹#›</a:t>
            </a:fld>
            <a:endParaRPr lang="en-US"/>
          </a:p>
        </p:txBody>
      </p:sp>
    </p:spTree>
    <p:extLst>
      <p:ext uri="{BB962C8B-B14F-4D97-AF65-F5344CB8AC3E}">
        <p14:creationId xmlns:p14="http://schemas.microsoft.com/office/powerpoint/2010/main" val="476639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A245D6E-A283-430D-81D6-118C876DE17F}" type="datetimeFigureOut">
              <a:rPr lang="en-US" smtClean="0"/>
              <a:t>2/28/2026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EBE0F8-38D6-4176-9851-78F5458ED042}" type="slidenum">
              <a:rPr lang="en-US" smtClean="0"/>
              <a:t>‹#›</a:t>
            </a:fld>
            <a:endParaRPr lang="en-US"/>
          </a:p>
        </p:txBody>
      </p:sp>
    </p:spTree>
    <p:extLst>
      <p:ext uri="{BB962C8B-B14F-4D97-AF65-F5344CB8AC3E}">
        <p14:creationId xmlns:p14="http://schemas.microsoft.com/office/powerpoint/2010/main" val="3200286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245D6E-A283-430D-81D6-118C876DE17F}"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EBE0F8-38D6-4176-9851-78F5458ED042}" type="slidenum">
              <a:rPr lang="en-US" smtClean="0"/>
              <a:t>‹#›</a:t>
            </a:fld>
            <a:endParaRPr lang="en-US"/>
          </a:p>
        </p:txBody>
      </p:sp>
    </p:spTree>
    <p:extLst>
      <p:ext uri="{BB962C8B-B14F-4D97-AF65-F5344CB8AC3E}">
        <p14:creationId xmlns:p14="http://schemas.microsoft.com/office/powerpoint/2010/main" val="39593210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245D6E-A283-430D-81D6-118C876DE17F}"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EBE0F8-38D6-4176-9851-78F5458ED042}"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5842563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245D6E-A283-430D-81D6-118C876DE17F}"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EBE0F8-38D6-4176-9851-78F5458ED042}" type="slidenum">
              <a:rPr lang="en-US" smtClean="0"/>
              <a:t>‹#›</a:t>
            </a:fld>
            <a:endParaRPr lang="en-US"/>
          </a:p>
        </p:txBody>
      </p:sp>
    </p:spTree>
    <p:extLst>
      <p:ext uri="{BB962C8B-B14F-4D97-AF65-F5344CB8AC3E}">
        <p14:creationId xmlns:p14="http://schemas.microsoft.com/office/powerpoint/2010/main" val="25426078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245D6E-A283-430D-81D6-118C876DE17F}"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EBE0F8-38D6-4176-9851-78F5458ED042}"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0590222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245D6E-A283-430D-81D6-118C876DE17F}"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EBE0F8-38D6-4176-9851-78F5458ED042}" type="slidenum">
              <a:rPr lang="en-US" smtClean="0"/>
              <a:t>‹#›</a:t>
            </a:fld>
            <a:endParaRPr lang="en-US"/>
          </a:p>
        </p:txBody>
      </p:sp>
    </p:spTree>
    <p:extLst>
      <p:ext uri="{BB962C8B-B14F-4D97-AF65-F5344CB8AC3E}">
        <p14:creationId xmlns:p14="http://schemas.microsoft.com/office/powerpoint/2010/main" val="30075841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245D6E-A283-430D-81D6-118C876DE17F}"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EBE0F8-38D6-4176-9851-78F5458ED042}" type="slidenum">
              <a:rPr lang="en-US" smtClean="0"/>
              <a:t>‹#›</a:t>
            </a:fld>
            <a:endParaRPr lang="en-US"/>
          </a:p>
        </p:txBody>
      </p:sp>
    </p:spTree>
    <p:extLst>
      <p:ext uri="{BB962C8B-B14F-4D97-AF65-F5344CB8AC3E}">
        <p14:creationId xmlns:p14="http://schemas.microsoft.com/office/powerpoint/2010/main" val="39075426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245D6E-A283-430D-81D6-118C876DE17F}"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EBE0F8-38D6-4176-9851-78F5458ED042}" type="slidenum">
              <a:rPr lang="en-US" smtClean="0"/>
              <a:t>‹#›</a:t>
            </a:fld>
            <a:endParaRPr lang="en-US"/>
          </a:p>
        </p:txBody>
      </p:sp>
    </p:spTree>
    <p:extLst>
      <p:ext uri="{BB962C8B-B14F-4D97-AF65-F5344CB8AC3E}">
        <p14:creationId xmlns:p14="http://schemas.microsoft.com/office/powerpoint/2010/main" val="41079602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5E86C-8C35-0662-2764-19AA4DB46E27}"/>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A4C86D9A-533F-40BB-5B08-B24A229C08C3}"/>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937167-9831-2E41-0259-0FCA544DB69C}"/>
              </a:ext>
            </a:extLst>
          </p:cNvPr>
          <p:cNvSpPr>
            <a:spLocks noGrp="1"/>
          </p:cNvSpPr>
          <p:nvPr>
            <p:ph type="dt" sz="half" idx="10"/>
          </p:nvPr>
        </p:nvSpPr>
        <p:spPr/>
        <p:txBody>
          <a:bodyPr/>
          <a:lstStyle/>
          <a:p>
            <a:fld id="{AA245D6E-A283-430D-81D6-118C876DE17F}" type="datetimeFigureOut">
              <a:rPr lang="en-US" smtClean="0"/>
              <a:t>2/28/2026</a:t>
            </a:fld>
            <a:endParaRPr lang="en-US"/>
          </a:p>
        </p:txBody>
      </p:sp>
      <p:sp>
        <p:nvSpPr>
          <p:cNvPr id="5" name="Footer Placeholder 4">
            <a:extLst>
              <a:ext uri="{FF2B5EF4-FFF2-40B4-BE49-F238E27FC236}">
                <a16:creationId xmlns:a16="http://schemas.microsoft.com/office/drawing/2014/main" id="{14A19561-C1A6-62E8-CF3B-24453231FC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FAC20E-76DC-D03A-1808-C7E4A57FF8CD}"/>
              </a:ext>
            </a:extLst>
          </p:cNvPr>
          <p:cNvSpPr>
            <a:spLocks noGrp="1"/>
          </p:cNvSpPr>
          <p:nvPr>
            <p:ph type="sldNum" sz="quarter" idx="12"/>
          </p:nvPr>
        </p:nvSpPr>
        <p:spPr/>
        <p:txBody>
          <a:bodyPr/>
          <a:lstStyle/>
          <a:p>
            <a:fld id="{77EBE0F8-38D6-4176-9851-78F5458ED042}" type="slidenum">
              <a:rPr lang="en-US" smtClean="0"/>
              <a:t>‹#›</a:t>
            </a:fld>
            <a:endParaRPr lang="en-US"/>
          </a:p>
        </p:txBody>
      </p:sp>
    </p:spTree>
    <p:extLst>
      <p:ext uri="{BB962C8B-B14F-4D97-AF65-F5344CB8AC3E}">
        <p14:creationId xmlns:p14="http://schemas.microsoft.com/office/powerpoint/2010/main" val="6129416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A245D6E-A283-430D-81D6-118C876DE17F}" type="datetimeFigureOut">
              <a:rPr lang="en-US" smtClean="0"/>
              <a:t>2/28/2026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77EBE0F8-38D6-4176-9851-78F5458ED042}" type="slidenum">
              <a:rPr lang="en-US" smtClean="0"/>
              <a:t>‹#›</a:t>
            </a:fld>
            <a:endParaRPr lang="en-US"/>
          </a:p>
        </p:txBody>
      </p:sp>
    </p:spTree>
    <p:extLst>
      <p:ext uri="{BB962C8B-B14F-4D97-AF65-F5344CB8AC3E}">
        <p14:creationId xmlns:p14="http://schemas.microsoft.com/office/powerpoint/2010/main" val="1770388837"/>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38BB8-4543-752A-F75E-77843AB91D78}"/>
              </a:ext>
            </a:extLst>
          </p:cNvPr>
          <p:cNvSpPr>
            <a:spLocks noGrp="1"/>
          </p:cNvSpPr>
          <p:nvPr>
            <p:ph type="title"/>
          </p:nvPr>
        </p:nvSpPr>
        <p:spPr>
          <a:xfrm>
            <a:off x="1831622" y="2542318"/>
            <a:ext cx="8113889" cy="1325563"/>
          </a:xfrm>
        </p:spPr>
        <p:txBody>
          <a:bodyPr/>
          <a:lstStyle/>
          <a:p>
            <a:pPr marR="0" algn="ctr" rtl="0"/>
            <a:r>
              <a:rPr lang="en-US" b="1" i="0" u="none" strike="noStrike" kern="100" baseline="0" dirty="0">
                <a:solidFill>
                  <a:srgbClr val="000000"/>
                </a:solidFill>
                <a:latin typeface="Times New Roman" panose="02020603050405020304" pitchFamily="18" charset="0"/>
              </a:rPr>
              <a:t>Infrastructure Architecture and Design Concepts for Financer</a:t>
            </a:r>
          </a:p>
        </p:txBody>
      </p:sp>
    </p:spTree>
    <p:extLst>
      <p:ext uri="{BB962C8B-B14F-4D97-AF65-F5344CB8AC3E}">
        <p14:creationId xmlns:p14="http://schemas.microsoft.com/office/powerpoint/2010/main" val="1173989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CE257-6A52-617F-8C44-6AE97F26E60F}"/>
              </a:ext>
            </a:extLst>
          </p:cNvPr>
          <p:cNvSpPr>
            <a:spLocks noGrp="1"/>
          </p:cNvSpPr>
          <p:nvPr>
            <p:ph type="title"/>
          </p:nvPr>
        </p:nvSpPr>
        <p:spPr/>
        <p:txBody>
          <a:bodyPr/>
          <a:lstStyle/>
          <a:p>
            <a:pPr marR="0" rtl="0"/>
            <a:r>
              <a:rPr lang="en-US" b="1" i="0" u="none" strike="noStrike" kern="100" baseline="0" dirty="0">
                <a:solidFill>
                  <a:srgbClr val="000000"/>
                </a:solidFill>
                <a:latin typeface="Times New Roman" panose="02020603050405020304" pitchFamily="18" charset="0"/>
              </a:rPr>
              <a:t>Project Objectives</a:t>
            </a:r>
          </a:p>
        </p:txBody>
      </p:sp>
      <p:sp>
        <p:nvSpPr>
          <p:cNvPr id="3" name="Text Placeholder 2">
            <a:extLst>
              <a:ext uri="{FF2B5EF4-FFF2-40B4-BE49-F238E27FC236}">
                <a16:creationId xmlns:a16="http://schemas.microsoft.com/office/drawing/2014/main" id="{FDEBF163-3DF3-2630-9E81-4EA7E6C5CA44}"/>
              </a:ext>
            </a:extLst>
          </p:cNvPr>
          <p:cNvSpPr>
            <a:spLocks noGrp="1"/>
          </p:cNvSpPr>
          <p:nvPr>
            <p:ph type="body" idx="1"/>
          </p:nvPr>
        </p:nvSpPr>
        <p:spPr>
          <a:xfrm>
            <a:off x="1106311" y="1584856"/>
            <a:ext cx="6750755" cy="4087811"/>
          </a:xfrm>
        </p:spPr>
        <p:txBody>
          <a:bodyPr/>
          <a:lstStyle/>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Relocate the old premises financial services to new infrastructure through AWS.</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Establish high availability architecture in various availability zones.</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Create a smooth scalability of the personal finance management application servers.</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Implement superior security measures to protect valuable financial transactions data.</a:t>
            </a:r>
          </a:p>
        </p:txBody>
      </p:sp>
    </p:spTree>
    <p:extLst>
      <p:ext uri="{BB962C8B-B14F-4D97-AF65-F5344CB8AC3E}">
        <p14:creationId xmlns:p14="http://schemas.microsoft.com/office/powerpoint/2010/main" val="4072608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00349-BD65-30B0-A60E-7C0E368F3267}"/>
              </a:ext>
            </a:extLst>
          </p:cNvPr>
          <p:cNvSpPr>
            <a:spLocks noGrp="1"/>
          </p:cNvSpPr>
          <p:nvPr>
            <p:ph type="title"/>
          </p:nvPr>
        </p:nvSpPr>
        <p:spPr/>
        <p:txBody>
          <a:bodyPr/>
          <a:lstStyle/>
          <a:p>
            <a:pPr marR="0" rtl="0"/>
            <a:r>
              <a:rPr lang="en-US" b="1" i="0" u="none" strike="noStrike" kern="100" baseline="0" dirty="0">
                <a:solidFill>
                  <a:srgbClr val="000000"/>
                </a:solidFill>
                <a:latin typeface="Times New Roman" panose="02020603050405020304" pitchFamily="18" charset="0"/>
              </a:rPr>
              <a:t>Current Infrastructure Challenges and Pain Points</a:t>
            </a:r>
          </a:p>
        </p:txBody>
      </p:sp>
      <p:sp>
        <p:nvSpPr>
          <p:cNvPr id="3" name="Text Placeholder 2">
            <a:extLst>
              <a:ext uri="{FF2B5EF4-FFF2-40B4-BE49-F238E27FC236}">
                <a16:creationId xmlns:a16="http://schemas.microsoft.com/office/drawing/2014/main" id="{2785FDDC-41C2-F2A5-DCF6-790456AC5EE2}"/>
              </a:ext>
            </a:extLst>
          </p:cNvPr>
          <p:cNvSpPr>
            <a:spLocks noGrp="1"/>
          </p:cNvSpPr>
          <p:nvPr>
            <p:ph type="body" idx="1"/>
          </p:nvPr>
        </p:nvSpPr>
        <p:spPr>
          <a:xfrm>
            <a:off x="677334" y="2160590"/>
            <a:ext cx="8596668" cy="2767012"/>
          </a:xfrm>
        </p:spPr>
        <p:txBody>
          <a:bodyPr/>
          <a:lstStyle/>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Rigid on-premises hardware causes high application failure during peak time.</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monolithic application server is the single point of failure (Bhatia, 2025).</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Local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postgres</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database is not subject to performance bottlenecks during high loads.</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Active Directory administration is not as secure as the modern cloud resources.</a:t>
            </a:r>
          </a:p>
        </p:txBody>
      </p:sp>
    </p:spTree>
    <p:extLst>
      <p:ext uri="{BB962C8B-B14F-4D97-AF65-F5344CB8AC3E}">
        <p14:creationId xmlns:p14="http://schemas.microsoft.com/office/powerpoint/2010/main" val="552810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5E660-D111-5D61-6FC6-1AF0725EF590}"/>
              </a:ext>
            </a:extLst>
          </p:cNvPr>
          <p:cNvSpPr>
            <a:spLocks noGrp="1"/>
          </p:cNvSpPr>
          <p:nvPr>
            <p:ph type="title"/>
          </p:nvPr>
        </p:nvSpPr>
        <p:spPr/>
        <p:txBody>
          <a:bodyPr/>
          <a:lstStyle/>
          <a:p>
            <a:pPr marR="0" rtl="0"/>
            <a:r>
              <a:rPr lang="en-US" b="1" i="0" u="none" strike="noStrike" kern="100" baseline="0" dirty="0">
                <a:solidFill>
                  <a:srgbClr val="000000"/>
                </a:solidFill>
                <a:latin typeface="Times New Roman" panose="02020603050405020304" pitchFamily="18" charset="0"/>
              </a:rPr>
              <a:t>Proposed AWS Architecture Overview</a:t>
            </a:r>
          </a:p>
        </p:txBody>
      </p:sp>
      <p:sp>
        <p:nvSpPr>
          <p:cNvPr id="3" name="Text Placeholder 2">
            <a:extLst>
              <a:ext uri="{FF2B5EF4-FFF2-40B4-BE49-F238E27FC236}">
                <a16:creationId xmlns:a16="http://schemas.microsoft.com/office/drawing/2014/main" id="{23A932E8-68CD-47EE-151A-B565A07B9A54}"/>
              </a:ext>
            </a:extLst>
          </p:cNvPr>
          <p:cNvSpPr>
            <a:spLocks noGrp="1"/>
          </p:cNvSpPr>
          <p:nvPr>
            <p:ph type="body" idx="1"/>
          </p:nvPr>
        </p:nvSpPr>
        <p:spPr>
          <a:xfrm>
            <a:off x="677334" y="2160590"/>
            <a:ext cx="5294488" cy="3649368"/>
          </a:xfrm>
        </p:spPr>
        <p:txBody>
          <a:bodyPr>
            <a:normAutofit/>
          </a:bodyPr>
          <a:lstStyle/>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Launch a custom Virtual Private Cloud in the us-east-1 region.</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Use an application load balancer to process web traffic.</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Install Auto Scaling Groups to control the dynamic application server fleets.</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Manage a highly available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postgres</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database with Multi-AZ Amazon RDS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Boscain</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2023).</a:t>
            </a:r>
          </a:p>
        </p:txBody>
      </p:sp>
      <p:pic>
        <p:nvPicPr>
          <p:cNvPr id="7" name="Picture 6">
            <a:extLst>
              <a:ext uri="{FF2B5EF4-FFF2-40B4-BE49-F238E27FC236}">
                <a16:creationId xmlns:a16="http://schemas.microsoft.com/office/drawing/2014/main" id="{D604CE66-715B-B717-E311-2765C8D74A3D}"/>
              </a:ext>
            </a:extLst>
          </p:cNvPr>
          <p:cNvPicPr>
            <a:picLocks noChangeAspect="1"/>
          </p:cNvPicPr>
          <p:nvPr/>
        </p:nvPicPr>
        <p:blipFill>
          <a:blip r:embed="rId3"/>
          <a:stretch>
            <a:fillRect/>
          </a:stretch>
        </p:blipFill>
        <p:spPr>
          <a:xfrm>
            <a:off x="6490394" y="2160590"/>
            <a:ext cx="4821074" cy="3214049"/>
          </a:xfrm>
          <a:prstGeom prst="rect">
            <a:avLst/>
          </a:prstGeom>
        </p:spPr>
      </p:pic>
    </p:spTree>
    <p:extLst>
      <p:ext uri="{BB962C8B-B14F-4D97-AF65-F5344CB8AC3E}">
        <p14:creationId xmlns:p14="http://schemas.microsoft.com/office/powerpoint/2010/main" val="6189014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88729-C42E-BB92-44EC-2940E89B1117}"/>
              </a:ext>
            </a:extLst>
          </p:cNvPr>
          <p:cNvSpPr>
            <a:spLocks noGrp="1"/>
          </p:cNvSpPr>
          <p:nvPr>
            <p:ph type="title"/>
          </p:nvPr>
        </p:nvSpPr>
        <p:spPr/>
        <p:txBody>
          <a:bodyPr/>
          <a:lstStyle/>
          <a:p>
            <a:pPr marR="0" rtl="0"/>
            <a:r>
              <a:rPr lang="en-US" b="1" i="0" u="none" strike="noStrike" kern="100" baseline="0" dirty="0">
                <a:solidFill>
                  <a:srgbClr val="000000"/>
                </a:solidFill>
                <a:latin typeface="Times New Roman" panose="02020603050405020304" pitchFamily="18" charset="0"/>
              </a:rPr>
              <a:t>Networking Design and Multi-AZ VPC Configuration</a:t>
            </a:r>
          </a:p>
        </p:txBody>
      </p:sp>
      <p:sp>
        <p:nvSpPr>
          <p:cNvPr id="3" name="Text Placeholder 2">
            <a:extLst>
              <a:ext uri="{FF2B5EF4-FFF2-40B4-BE49-F238E27FC236}">
                <a16:creationId xmlns:a16="http://schemas.microsoft.com/office/drawing/2014/main" id="{6C696EA1-334D-888C-43E5-1DA0890B367D}"/>
              </a:ext>
            </a:extLst>
          </p:cNvPr>
          <p:cNvSpPr>
            <a:spLocks noGrp="1"/>
          </p:cNvSpPr>
          <p:nvPr>
            <p:ph type="body" idx="1"/>
          </p:nvPr>
        </p:nvSpPr>
        <p:spPr>
          <a:xfrm>
            <a:off x="677334" y="2160589"/>
            <a:ext cx="5418666" cy="3880773"/>
          </a:xfrm>
        </p:spPr>
        <p:txBody>
          <a:bodyPr>
            <a:normAutofit/>
          </a:bodyPr>
          <a:lstStyle/>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VPC utilizes us-east-1 region with a 10.0.0.0/16 CIDR block.</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Six public and private subnets ensure maximum high availability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availability</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Load balancer and bastion host are present in public subnets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Cherukuri</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Chhapola</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and Kaushik, 2024).</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application servers and database instances are segregated in secret sub nets.</a:t>
            </a:r>
          </a:p>
        </p:txBody>
      </p:sp>
      <p:pic>
        <p:nvPicPr>
          <p:cNvPr id="4" name="Picture 3">
            <a:extLst>
              <a:ext uri="{FF2B5EF4-FFF2-40B4-BE49-F238E27FC236}">
                <a16:creationId xmlns:a16="http://schemas.microsoft.com/office/drawing/2014/main" id="{488AB64E-FCC6-46C8-7697-B5432875D01C}"/>
              </a:ext>
            </a:extLst>
          </p:cNvPr>
          <p:cNvPicPr>
            <a:picLocks noChangeAspect="1"/>
          </p:cNvPicPr>
          <p:nvPr/>
        </p:nvPicPr>
        <p:blipFill>
          <a:blip r:embed="rId3"/>
          <a:stretch>
            <a:fillRect/>
          </a:stretch>
        </p:blipFill>
        <p:spPr>
          <a:xfrm>
            <a:off x="6423725" y="2629896"/>
            <a:ext cx="5249333" cy="2297705"/>
          </a:xfrm>
          <a:prstGeom prst="rect">
            <a:avLst/>
          </a:prstGeom>
        </p:spPr>
      </p:pic>
    </p:spTree>
    <p:extLst>
      <p:ext uri="{BB962C8B-B14F-4D97-AF65-F5344CB8AC3E}">
        <p14:creationId xmlns:p14="http://schemas.microsoft.com/office/powerpoint/2010/main" val="2895620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E5608-FAA0-AA58-8618-CBE156EA210E}"/>
              </a:ext>
            </a:extLst>
          </p:cNvPr>
          <p:cNvSpPr>
            <a:spLocks noGrp="1"/>
          </p:cNvSpPr>
          <p:nvPr>
            <p:ph type="title"/>
          </p:nvPr>
        </p:nvSpPr>
        <p:spPr/>
        <p:txBody>
          <a:bodyPr/>
          <a:lstStyle/>
          <a:p>
            <a:pPr marR="0" rtl="0"/>
            <a:r>
              <a:rPr lang="en-US" b="1" i="0" u="none" strike="noStrike" kern="100" baseline="0" dirty="0">
                <a:solidFill>
                  <a:srgbClr val="000000"/>
                </a:solidFill>
                <a:latin typeface="Times New Roman" panose="02020603050405020304" pitchFamily="18" charset="0"/>
              </a:rPr>
              <a:t>Compute Layer: Auto Scaling Group Implementation</a:t>
            </a:r>
          </a:p>
        </p:txBody>
      </p:sp>
      <p:sp>
        <p:nvSpPr>
          <p:cNvPr id="3" name="Text Placeholder 2">
            <a:extLst>
              <a:ext uri="{FF2B5EF4-FFF2-40B4-BE49-F238E27FC236}">
                <a16:creationId xmlns:a16="http://schemas.microsoft.com/office/drawing/2014/main" id="{8EF84409-01C0-A8A8-E834-E3E0A2C3F8B3}"/>
              </a:ext>
            </a:extLst>
          </p:cNvPr>
          <p:cNvSpPr>
            <a:spLocks noGrp="1"/>
          </p:cNvSpPr>
          <p:nvPr>
            <p:ph type="body" idx="1"/>
          </p:nvPr>
        </p:nvSpPr>
        <p:spPr>
          <a:xfrm>
            <a:off x="677334" y="2160589"/>
            <a:ext cx="4372968" cy="4087811"/>
          </a:xfrm>
        </p:spPr>
        <p:txBody>
          <a:bodyPr/>
          <a:lstStyle/>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 Launch Template is used to make Linux EC2 instances supporting PHP.</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At least two examples are related to the Auto Scaling Group (Thota, 2021).</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instances are distributed to a number of private subnets to attain high redundancy.</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Dynamic scaling policies are set to the changes in user demand (Nagraj, 2023).</a:t>
            </a:r>
          </a:p>
        </p:txBody>
      </p:sp>
      <p:pic>
        <p:nvPicPr>
          <p:cNvPr id="4" name="Picture 3">
            <a:extLst>
              <a:ext uri="{FF2B5EF4-FFF2-40B4-BE49-F238E27FC236}">
                <a16:creationId xmlns:a16="http://schemas.microsoft.com/office/drawing/2014/main" id="{36F59711-0C23-D11C-17E9-AE0FF36E80A3}"/>
              </a:ext>
            </a:extLst>
          </p:cNvPr>
          <p:cNvPicPr>
            <a:picLocks noChangeAspect="1"/>
          </p:cNvPicPr>
          <p:nvPr/>
        </p:nvPicPr>
        <p:blipFill>
          <a:blip r:embed="rId3"/>
          <a:stretch>
            <a:fillRect/>
          </a:stretch>
        </p:blipFill>
        <p:spPr>
          <a:xfrm>
            <a:off x="5660298" y="2631570"/>
            <a:ext cx="5916637" cy="2407110"/>
          </a:xfrm>
          <a:prstGeom prst="rect">
            <a:avLst/>
          </a:prstGeom>
        </p:spPr>
      </p:pic>
    </p:spTree>
    <p:extLst>
      <p:ext uri="{BB962C8B-B14F-4D97-AF65-F5344CB8AC3E}">
        <p14:creationId xmlns:p14="http://schemas.microsoft.com/office/powerpoint/2010/main" val="10912031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449AD-CD45-C9EC-DD9F-6507F04A41E1}"/>
              </a:ext>
            </a:extLst>
          </p:cNvPr>
          <p:cNvSpPr>
            <a:spLocks noGrp="1"/>
          </p:cNvSpPr>
          <p:nvPr>
            <p:ph type="title"/>
          </p:nvPr>
        </p:nvSpPr>
        <p:spPr/>
        <p:txBody>
          <a:bodyPr/>
          <a:lstStyle/>
          <a:p>
            <a:pPr marR="0" rtl="0"/>
            <a:r>
              <a:rPr lang="en-US" b="1" i="0" u="none" strike="noStrike" kern="100" baseline="0" dirty="0">
                <a:solidFill>
                  <a:srgbClr val="000000"/>
                </a:solidFill>
                <a:latin typeface="Times New Roman" panose="02020603050405020304" pitchFamily="18" charset="0"/>
              </a:rPr>
              <a:t>Application Load Balancer Strategy</a:t>
            </a:r>
          </a:p>
        </p:txBody>
      </p:sp>
      <p:sp>
        <p:nvSpPr>
          <p:cNvPr id="3" name="Text Placeholder 2">
            <a:extLst>
              <a:ext uri="{FF2B5EF4-FFF2-40B4-BE49-F238E27FC236}">
                <a16:creationId xmlns:a16="http://schemas.microsoft.com/office/drawing/2014/main" id="{F6DF75B2-1F83-473B-5F5F-85E062470F13}"/>
              </a:ext>
            </a:extLst>
          </p:cNvPr>
          <p:cNvSpPr>
            <a:spLocks noGrp="1"/>
          </p:cNvSpPr>
          <p:nvPr>
            <p:ph type="body" idx="1"/>
          </p:nvPr>
        </p:nvSpPr>
        <p:spPr>
          <a:xfrm>
            <a:off x="677334" y="2160589"/>
            <a:ext cx="4176020" cy="3775977"/>
          </a:xfrm>
        </p:spPr>
        <p:txBody>
          <a:bodyPr>
            <a:normAutofit fontScale="92500"/>
          </a:bodyPr>
          <a:lstStyle/>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Load Balancer also distributes traffic to the scaling group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Rakipllari</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2025).</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ALB is found in public subnets to receive external internet traffic.</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ALB provides a single DNS entry point for users.</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Security groups restrict the ALB to only accept HTTP traffic.</a:t>
            </a:r>
          </a:p>
        </p:txBody>
      </p:sp>
      <p:pic>
        <p:nvPicPr>
          <p:cNvPr id="4" name="Picture 3">
            <a:extLst>
              <a:ext uri="{FF2B5EF4-FFF2-40B4-BE49-F238E27FC236}">
                <a16:creationId xmlns:a16="http://schemas.microsoft.com/office/drawing/2014/main" id="{2EDC8AA1-4882-6799-B79B-39BD7FB46EDD}"/>
              </a:ext>
            </a:extLst>
          </p:cNvPr>
          <p:cNvPicPr>
            <a:picLocks noChangeAspect="1"/>
          </p:cNvPicPr>
          <p:nvPr/>
        </p:nvPicPr>
        <p:blipFill>
          <a:blip r:embed="rId3"/>
          <a:stretch>
            <a:fillRect/>
          </a:stretch>
        </p:blipFill>
        <p:spPr>
          <a:xfrm>
            <a:off x="5650088" y="2494916"/>
            <a:ext cx="5943600" cy="2432685"/>
          </a:xfrm>
          <a:prstGeom prst="rect">
            <a:avLst/>
          </a:prstGeom>
        </p:spPr>
      </p:pic>
    </p:spTree>
    <p:extLst>
      <p:ext uri="{BB962C8B-B14F-4D97-AF65-F5344CB8AC3E}">
        <p14:creationId xmlns:p14="http://schemas.microsoft.com/office/powerpoint/2010/main" val="14246525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553D2-F2A7-9147-79A8-3BE3EA54A26A}"/>
              </a:ext>
            </a:extLst>
          </p:cNvPr>
          <p:cNvSpPr>
            <a:spLocks noGrp="1"/>
          </p:cNvSpPr>
          <p:nvPr>
            <p:ph type="title"/>
          </p:nvPr>
        </p:nvSpPr>
        <p:spPr/>
        <p:txBody>
          <a:bodyPr/>
          <a:lstStyle/>
          <a:p>
            <a:pPr marR="0" rtl="0"/>
            <a:r>
              <a:rPr lang="en-US" b="1" i="0" u="none" strike="noStrike" kern="100" baseline="0" dirty="0">
                <a:solidFill>
                  <a:srgbClr val="000000"/>
                </a:solidFill>
                <a:latin typeface="Times New Roman" panose="02020603050405020304" pitchFamily="18" charset="0"/>
              </a:rPr>
              <a:t>Managed Database Services: Amazon RDS</a:t>
            </a:r>
          </a:p>
        </p:txBody>
      </p:sp>
      <p:sp>
        <p:nvSpPr>
          <p:cNvPr id="3" name="Text Placeholder 2">
            <a:extLst>
              <a:ext uri="{FF2B5EF4-FFF2-40B4-BE49-F238E27FC236}">
                <a16:creationId xmlns:a16="http://schemas.microsoft.com/office/drawing/2014/main" id="{78220CAC-7CFE-4F8B-6C3D-EA5C2D406F6A}"/>
              </a:ext>
            </a:extLst>
          </p:cNvPr>
          <p:cNvSpPr>
            <a:spLocks noGrp="1"/>
          </p:cNvSpPr>
          <p:nvPr>
            <p:ph type="body" idx="1"/>
          </p:nvPr>
        </p:nvSpPr>
        <p:spPr>
          <a:xfrm>
            <a:off x="677334" y="2160589"/>
            <a:ext cx="4673599" cy="3874451"/>
          </a:xfrm>
        </p:spPr>
        <p:txBody>
          <a:bodyPr>
            <a:normAutofit lnSpcReduction="10000"/>
          </a:bodyPr>
          <a:lstStyle/>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Amazon RDS will replace the current on-premises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postgres</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database servers.</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Multi-AZ deployment offers automatic failover insurance by provision of standout instance.</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Security The database is restricted to the private subnets (Thorne and Valdez, 2025).</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Only the application servers and bastion host can access RDS.</a:t>
            </a:r>
          </a:p>
        </p:txBody>
      </p:sp>
      <p:pic>
        <p:nvPicPr>
          <p:cNvPr id="4" name="Picture 3">
            <a:extLst>
              <a:ext uri="{FF2B5EF4-FFF2-40B4-BE49-F238E27FC236}">
                <a16:creationId xmlns:a16="http://schemas.microsoft.com/office/drawing/2014/main" id="{25D0E121-BFC3-D916-6F16-76DD36BD4BEA}"/>
              </a:ext>
            </a:extLst>
          </p:cNvPr>
          <p:cNvPicPr>
            <a:picLocks noChangeAspect="1"/>
          </p:cNvPicPr>
          <p:nvPr/>
        </p:nvPicPr>
        <p:blipFill>
          <a:blip r:embed="rId3"/>
          <a:stretch>
            <a:fillRect/>
          </a:stretch>
        </p:blipFill>
        <p:spPr>
          <a:xfrm>
            <a:off x="5958059" y="2481159"/>
            <a:ext cx="5943600" cy="2484755"/>
          </a:xfrm>
          <a:prstGeom prst="rect">
            <a:avLst/>
          </a:prstGeom>
        </p:spPr>
      </p:pic>
    </p:spTree>
    <p:extLst>
      <p:ext uri="{BB962C8B-B14F-4D97-AF65-F5344CB8AC3E}">
        <p14:creationId xmlns:p14="http://schemas.microsoft.com/office/powerpoint/2010/main" val="4646679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C1565-6E68-37B6-C4CA-A9E596905CFB}"/>
              </a:ext>
            </a:extLst>
          </p:cNvPr>
          <p:cNvSpPr>
            <a:spLocks noGrp="1"/>
          </p:cNvSpPr>
          <p:nvPr>
            <p:ph type="title"/>
          </p:nvPr>
        </p:nvSpPr>
        <p:spPr/>
        <p:txBody>
          <a:bodyPr/>
          <a:lstStyle/>
          <a:p>
            <a:pPr marR="0" rtl="0"/>
            <a:r>
              <a:rPr lang="en-US" b="1" i="0" u="none" strike="noStrike" kern="100" baseline="0" dirty="0">
                <a:solidFill>
                  <a:srgbClr val="000000"/>
                </a:solidFill>
                <a:latin typeface="Times New Roman" panose="02020603050405020304" pitchFamily="18" charset="0"/>
              </a:rPr>
              <a:t>Scalable File Services: Amazon EFS</a:t>
            </a:r>
          </a:p>
        </p:txBody>
      </p:sp>
      <p:sp>
        <p:nvSpPr>
          <p:cNvPr id="3" name="Text Placeholder 2">
            <a:extLst>
              <a:ext uri="{FF2B5EF4-FFF2-40B4-BE49-F238E27FC236}">
                <a16:creationId xmlns:a16="http://schemas.microsoft.com/office/drawing/2014/main" id="{35200CC1-7831-B7A3-6739-42BA419962AA}"/>
              </a:ext>
            </a:extLst>
          </p:cNvPr>
          <p:cNvSpPr>
            <a:spLocks noGrp="1"/>
          </p:cNvSpPr>
          <p:nvPr>
            <p:ph type="body" idx="1"/>
          </p:nvPr>
        </p:nvSpPr>
        <p:spPr>
          <a:xfrm>
            <a:off x="677333" y="2160589"/>
            <a:ext cx="4594577" cy="3902586"/>
          </a:xfrm>
        </p:spPr>
        <p:txBody>
          <a:bodyPr/>
          <a:lstStyle/>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Amazon EFS provides a scalable and durable shared file system.</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file system is mounted automatically on all EC2 instances.</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EFS ensures that application logs and user data remain consistent.</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NFS security rules permit traffic only from the web servers (Thota, 2021).</a:t>
            </a:r>
          </a:p>
        </p:txBody>
      </p:sp>
      <p:pic>
        <p:nvPicPr>
          <p:cNvPr id="4" name="Picture 3">
            <a:extLst>
              <a:ext uri="{FF2B5EF4-FFF2-40B4-BE49-F238E27FC236}">
                <a16:creationId xmlns:a16="http://schemas.microsoft.com/office/drawing/2014/main" id="{9F44E6EF-F851-1E4E-516A-C4B618E02A86}"/>
              </a:ext>
            </a:extLst>
          </p:cNvPr>
          <p:cNvPicPr>
            <a:picLocks noChangeAspect="1"/>
          </p:cNvPicPr>
          <p:nvPr/>
        </p:nvPicPr>
        <p:blipFill>
          <a:blip r:embed="rId3"/>
          <a:stretch>
            <a:fillRect/>
          </a:stretch>
        </p:blipFill>
        <p:spPr>
          <a:xfrm>
            <a:off x="5792894" y="2696846"/>
            <a:ext cx="5943600" cy="2433955"/>
          </a:xfrm>
          <a:prstGeom prst="rect">
            <a:avLst/>
          </a:prstGeom>
        </p:spPr>
      </p:pic>
    </p:spTree>
    <p:extLst>
      <p:ext uri="{BB962C8B-B14F-4D97-AF65-F5344CB8AC3E}">
        <p14:creationId xmlns:p14="http://schemas.microsoft.com/office/powerpoint/2010/main" val="2094814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E305B-1209-B72C-F218-E460EF12AEE4}"/>
              </a:ext>
            </a:extLst>
          </p:cNvPr>
          <p:cNvSpPr>
            <a:spLocks noGrp="1"/>
          </p:cNvSpPr>
          <p:nvPr>
            <p:ph type="title"/>
          </p:nvPr>
        </p:nvSpPr>
        <p:spPr/>
        <p:txBody>
          <a:bodyPr/>
          <a:lstStyle/>
          <a:p>
            <a:pPr marR="0" rtl="0"/>
            <a:r>
              <a:rPr lang="en-US" b="1" i="0" u="none" strike="noStrike" kern="100" baseline="0" dirty="0">
                <a:solidFill>
                  <a:srgbClr val="000000"/>
                </a:solidFill>
                <a:latin typeface="Times New Roman" panose="02020603050405020304" pitchFamily="18" charset="0"/>
              </a:rPr>
              <a:t>Identity Management: AWS Managed Microsoft AD</a:t>
            </a:r>
          </a:p>
        </p:txBody>
      </p:sp>
      <p:sp>
        <p:nvSpPr>
          <p:cNvPr id="3" name="Text Placeholder 2">
            <a:extLst>
              <a:ext uri="{FF2B5EF4-FFF2-40B4-BE49-F238E27FC236}">
                <a16:creationId xmlns:a16="http://schemas.microsoft.com/office/drawing/2014/main" id="{8AD82F37-E79F-D672-E8B6-388FF7876019}"/>
              </a:ext>
            </a:extLst>
          </p:cNvPr>
          <p:cNvSpPr>
            <a:spLocks noGrp="1"/>
          </p:cNvSpPr>
          <p:nvPr>
            <p:ph type="body" idx="1"/>
          </p:nvPr>
        </p:nvSpPr>
        <p:spPr>
          <a:xfrm>
            <a:off x="677334" y="2160589"/>
            <a:ext cx="4105681" cy="3691571"/>
          </a:xfrm>
        </p:spPr>
        <p:txBody>
          <a:bodyPr>
            <a:normAutofit fontScale="92500" lnSpcReduction="10000"/>
          </a:bodyPr>
          <a:lstStyle/>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Managed Microsoft AD replaces the legacy on-premises domain controller.</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Domain controllers are deployed across two availability zones for redundancy.</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Organizational Units are created to manage different staff access levels (Bhatia, 2025).</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directory service facilitates seamless joining of Windows bastion hosts.</a:t>
            </a:r>
          </a:p>
        </p:txBody>
      </p:sp>
      <p:pic>
        <p:nvPicPr>
          <p:cNvPr id="4" name="Picture 3">
            <a:extLst>
              <a:ext uri="{FF2B5EF4-FFF2-40B4-BE49-F238E27FC236}">
                <a16:creationId xmlns:a16="http://schemas.microsoft.com/office/drawing/2014/main" id="{96EF80F3-1F33-879E-A3F9-C1E0169DE6E0}"/>
              </a:ext>
            </a:extLst>
          </p:cNvPr>
          <p:cNvPicPr>
            <a:picLocks noChangeAspect="1"/>
          </p:cNvPicPr>
          <p:nvPr/>
        </p:nvPicPr>
        <p:blipFill>
          <a:blip r:embed="rId3"/>
          <a:stretch>
            <a:fillRect/>
          </a:stretch>
        </p:blipFill>
        <p:spPr>
          <a:xfrm>
            <a:off x="5751688" y="2341246"/>
            <a:ext cx="5943600" cy="2586355"/>
          </a:xfrm>
          <a:prstGeom prst="rect">
            <a:avLst/>
          </a:prstGeom>
        </p:spPr>
      </p:pic>
    </p:spTree>
    <p:extLst>
      <p:ext uri="{BB962C8B-B14F-4D97-AF65-F5344CB8AC3E}">
        <p14:creationId xmlns:p14="http://schemas.microsoft.com/office/powerpoint/2010/main" val="31763619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1451B-3D64-BEE4-878B-BCD27610BE2A}"/>
              </a:ext>
            </a:extLst>
          </p:cNvPr>
          <p:cNvSpPr>
            <a:spLocks noGrp="1"/>
          </p:cNvSpPr>
          <p:nvPr>
            <p:ph type="title"/>
          </p:nvPr>
        </p:nvSpPr>
        <p:spPr/>
        <p:txBody>
          <a:bodyPr/>
          <a:lstStyle/>
          <a:p>
            <a:pPr marR="0" rtl="0"/>
            <a:r>
              <a:rPr lang="en-US" b="1" i="0" u="none" strike="noStrike" kern="100" baseline="0" dirty="0">
                <a:solidFill>
                  <a:srgbClr val="000000"/>
                </a:solidFill>
                <a:latin typeface="Times New Roman" panose="02020603050405020304" pitchFamily="18" charset="0"/>
              </a:rPr>
              <a:t>Security Implementation: Security Groups and Bastion Host</a:t>
            </a:r>
          </a:p>
        </p:txBody>
      </p:sp>
      <p:sp>
        <p:nvSpPr>
          <p:cNvPr id="3" name="Text Placeholder 2">
            <a:extLst>
              <a:ext uri="{FF2B5EF4-FFF2-40B4-BE49-F238E27FC236}">
                <a16:creationId xmlns:a16="http://schemas.microsoft.com/office/drawing/2014/main" id="{CFEC6018-F1A1-1F3D-D93E-F92DBC1DF029}"/>
              </a:ext>
            </a:extLst>
          </p:cNvPr>
          <p:cNvSpPr>
            <a:spLocks noGrp="1"/>
          </p:cNvSpPr>
          <p:nvPr>
            <p:ph type="body" idx="1"/>
          </p:nvPr>
        </p:nvSpPr>
        <p:spPr>
          <a:xfrm>
            <a:off x="677334" y="2160590"/>
            <a:ext cx="4358900" cy="3747842"/>
          </a:xfrm>
        </p:spPr>
        <p:txBody>
          <a:bodyPr/>
          <a:lstStyle/>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 Windows Server bastion host provides secure administrative entry points.</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Strict security groups enforce stateful traffic rules between different layers.</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Public RDP access is restricted to the bastion host only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Boscain</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2023).</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application servers only accept HTTP traffic from the ALB.</a:t>
            </a:r>
          </a:p>
        </p:txBody>
      </p:sp>
      <p:pic>
        <p:nvPicPr>
          <p:cNvPr id="4" name="Picture 3">
            <a:extLst>
              <a:ext uri="{FF2B5EF4-FFF2-40B4-BE49-F238E27FC236}">
                <a16:creationId xmlns:a16="http://schemas.microsoft.com/office/drawing/2014/main" id="{BCA49A52-EC70-3A9A-AD31-6685407B051F}"/>
              </a:ext>
            </a:extLst>
          </p:cNvPr>
          <p:cNvPicPr>
            <a:picLocks noChangeAspect="1"/>
          </p:cNvPicPr>
          <p:nvPr/>
        </p:nvPicPr>
        <p:blipFill>
          <a:blip r:embed="rId3"/>
          <a:stretch>
            <a:fillRect/>
          </a:stretch>
        </p:blipFill>
        <p:spPr>
          <a:xfrm>
            <a:off x="5842044" y="2614259"/>
            <a:ext cx="5943600" cy="2600325"/>
          </a:xfrm>
          <a:prstGeom prst="rect">
            <a:avLst/>
          </a:prstGeom>
        </p:spPr>
      </p:pic>
    </p:spTree>
    <p:extLst>
      <p:ext uri="{BB962C8B-B14F-4D97-AF65-F5344CB8AC3E}">
        <p14:creationId xmlns:p14="http://schemas.microsoft.com/office/powerpoint/2010/main" val="26069077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A3973-6675-02D7-3001-961DEDBCD849}"/>
              </a:ext>
            </a:extLst>
          </p:cNvPr>
          <p:cNvSpPr>
            <a:spLocks noGrp="1"/>
          </p:cNvSpPr>
          <p:nvPr>
            <p:ph type="title"/>
          </p:nvPr>
        </p:nvSpPr>
        <p:spPr/>
        <p:txBody>
          <a:bodyPr/>
          <a:lstStyle/>
          <a:p>
            <a:pPr marR="0" rtl="0"/>
            <a:r>
              <a:rPr lang="en-US" b="1" i="0" u="none" strike="noStrike" kern="100" baseline="0" dirty="0">
                <a:solidFill>
                  <a:srgbClr val="000000"/>
                </a:solidFill>
                <a:latin typeface="Times New Roman" panose="02020603050405020304" pitchFamily="18" charset="0"/>
              </a:rPr>
              <a:t>Governance: Active Directory Groups and GPO</a:t>
            </a:r>
          </a:p>
        </p:txBody>
      </p:sp>
      <p:sp>
        <p:nvSpPr>
          <p:cNvPr id="3" name="Text Placeholder 2">
            <a:extLst>
              <a:ext uri="{FF2B5EF4-FFF2-40B4-BE49-F238E27FC236}">
                <a16:creationId xmlns:a16="http://schemas.microsoft.com/office/drawing/2014/main" id="{0BE9695E-70B3-D055-E988-B1AFC62669D9}"/>
              </a:ext>
            </a:extLst>
          </p:cNvPr>
          <p:cNvSpPr>
            <a:spLocks noGrp="1"/>
          </p:cNvSpPr>
          <p:nvPr>
            <p:ph type="body" idx="1"/>
          </p:nvPr>
        </p:nvSpPr>
        <p:spPr>
          <a:xfrm>
            <a:off x="677334" y="2160590"/>
            <a:ext cx="4035343" cy="3550894"/>
          </a:xfrm>
        </p:spPr>
        <p:txBody>
          <a:bodyPr>
            <a:normAutofit fontScale="77500" lnSpcReduction="20000"/>
          </a:bodyPr>
          <a:lstStyle/>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Specific groups manage DevOps admins, data analysts, and support staff.</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Group Policy Objects are used to deny the non-administrative users the chance to customize the network settings.</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Financr</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-Users OU is related to the implementation of the GPO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Cherukuri</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Chhapola</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and Kaushik, 2024).</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Role-based access control this will make sure that the staff only access the resources needed by the cloud.</a:t>
            </a:r>
          </a:p>
        </p:txBody>
      </p:sp>
      <p:pic>
        <p:nvPicPr>
          <p:cNvPr id="4" name="Picture 3">
            <a:extLst>
              <a:ext uri="{FF2B5EF4-FFF2-40B4-BE49-F238E27FC236}">
                <a16:creationId xmlns:a16="http://schemas.microsoft.com/office/drawing/2014/main" id="{BD3D755B-EB28-E5DA-D803-3FAB061B9E3B}"/>
              </a:ext>
            </a:extLst>
          </p:cNvPr>
          <p:cNvPicPr>
            <a:picLocks noChangeAspect="1"/>
          </p:cNvPicPr>
          <p:nvPr/>
        </p:nvPicPr>
        <p:blipFill>
          <a:blip r:embed="rId3"/>
          <a:stretch>
            <a:fillRect/>
          </a:stretch>
        </p:blipFill>
        <p:spPr>
          <a:xfrm>
            <a:off x="5867400" y="2458086"/>
            <a:ext cx="5943600" cy="2469515"/>
          </a:xfrm>
          <a:prstGeom prst="rect">
            <a:avLst/>
          </a:prstGeom>
        </p:spPr>
      </p:pic>
    </p:spTree>
    <p:extLst>
      <p:ext uri="{BB962C8B-B14F-4D97-AF65-F5344CB8AC3E}">
        <p14:creationId xmlns:p14="http://schemas.microsoft.com/office/powerpoint/2010/main" val="33105039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DD8E5-FDC4-938C-834E-D45137FAF918}"/>
              </a:ext>
            </a:extLst>
          </p:cNvPr>
          <p:cNvSpPr>
            <a:spLocks noGrp="1"/>
          </p:cNvSpPr>
          <p:nvPr>
            <p:ph type="title"/>
          </p:nvPr>
        </p:nvSpPr>
        <p:spPr/>
        <p:txBody>
          <a:bodyPr/>
          <a:lstStyle/>
          <a:p>
            <a:pPr marR="0" rtl="0"/>
            <a:r>
              <a:rPr lang="en-US" b="1" i="0" u="none" strike="noStrike" kern="100" baseline="0" dirty="0">
                <a:solidFill>
                  <a:srgbClr val="000000"/>
                </a:solidFill>
                <a:latin typeface="Times New Roman" panose="02020603050405020304" pitchFamily="18" charset="0"/>
              </a:rPr>
              <a:t>High Availability and Disaster Recovery (DR)</a:t>
            </a:r>
          </a:p>
        </p:txBody>
      </p:sp>
      <p:sp>
        <p:nvSpPr>
          <p:cNvPr id="3" name="Text Placeholder 2">
            <a:extLst>
              <a:ext uri="{FF2B5EF4-FFF2-40B4-BE49-F238E27FC236}">
                <a16:creationId xmlns:a16="http://schemas.microsoft.com/office/drawing/2014/main" id="{0063DA4F-2238-1805-2548-DDA63C88FCEF}"/>
              </a:ext>
            </a:extLst>
          </p:cNvPr>
          <p:cNvSpPr>
            <a:spLocks noGrp="1"/>
          </p:cNvSpPr>
          <p:nvPr>
            <p:ph type="body" idx="1"/>
          </p:nvPr>
        </p:nvSpPr>
        <p:spPr/>
        <p:txBody>
          <a:bodyPr/>
          <a:lstStyle/>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Auto Scaling Groups Self-Healing Auto Scaling Groups automatically replace failed server instances.</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RDS Multi-AZ failover will minimize downtime in case of a critical database hardware failure.</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Regional EFS storage hedges data against catastrophes of data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centres</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Rakipllari</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2025).</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ALB ensures constant service availability despite individual instance failures.</a:t>
            </a:r>
          </a:p>
        </p:txBody>
      </p:sp>
    </p:spTree>
    <p:extLst>
      <p:ext uri="{BB962C8B-B14F-4D97-AF65-F5344CB8AC3E}">
        <p14:creationId xmlns:p14="http://schemas.microsoft.com/office/powerpoint/2010/main" val="31661753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76D17-B6E9-AE3E-BC04-9654B6749EA6}"/>
              </a:ext>
            </a:extLst>
          </p:cNvPr>
          <p:cNvSpPr>
            <a:spLocks noGrp="1"/>
          </p:cNvSpPr>
          <p:nvPr>
            <p:ph type="title"/>
          </p:nvPr>
        </p:nvSpPr>
        <p:spPr/>
        <p:txBody>
          <a:bodyPr/>
          <a:lstStyle/>
          <a:p>
            <a:pPr marR="0" rtl="0"/>
            <a:r>
              <a:rPr lang="en-US" b="1" i="0" u="none" strike="noStrike" kern="100" baseline="0" dirty="0">
                <a:solidFill>
                  <a:srgbClr val="000000"/>
                </a:solidFill>
                <a:latin typeface="Times New Roman" panose="02020603050405020304" pitchFamily="18" charset="0"/>
              </a:rPr>
              <a:t>Migration Benefits: On-Premise vs. Cloud</a:t>
            </a:r>
          </a:p>
        </p:txBody>
      </p:sp>
      <p:sp>
        <p:nvSpPr>
          <p:cNvPr id="3" name="Text Placeholder 2">
            <a:extLst>
              <a:ext uri="{FF2B5EF4-FFF2-40B4-BE49-F238E27FC236}">
                <a16:creationId xmlns:a16="http://schemas.microsoft.com/office/drawing/2014/main" id="{D452F729-8D60-F041-D0C0-F2E118625FC9}"/>
              </a:ext>
            </a:extLst>
          </p:cNvPr>
          <p:cNvSpPr>
            <a:spLocks noGrp="1"/>
          </p:cNvSpPr>
          <p:nvPr>
            <p:ph type="body" idx="1"/>
          </p:nvPr>
        </p:nvSpPr>
        <p:spPr/>
        <p:txBody>
          <a:bodyPr/>
          <a:lstStyle/>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cloud solution eliminates the expense of the expensive physical hardware.</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Operation agility is improved through automated resource deployment and management.</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Scalability allows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Financr</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to serve thousands of active financial users at the same time (Thorne and Valdez, 2025).</a:t>
            </a:r>
          </a:p>
          <a:p>
            <a:r>
              <a:rPr lang="en-US" sz="1800" dirty="0">
                <a:effectLst/>
                <a:latin typeface="Times New Roman" panose="02020603050405020304" pitchFamily="18" charset="0"/>
                <a:ea typeface="Calibri" panose="020F0502020204030204" pitchFamily="34" charset="0"/>
              </a:rPr>
              <a:t>Security is enhanced with guard services and global standards of adherence.</a:t>
            </a:r>
            <a:endParaRPr lang="en-US" i="0" u="none" strike="noStrike" kern="100" baseline="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17059183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B62C7-38EF-163F-4BF7-DF68E258C074}"/>
              </a:ext>
            </a:extLst>
          </p:cNvPr>
          <p:cNvSpPr>
            <a:spLocks noGrp="1"/>
          </p:cNvSpPr>
          <p:nvPr>
            <p:ph type="title"/>
          </p:nvPr>
        </p:nvSpPr>
        <p:spPr/>
        <p:txBody>
          <a:bodyPr/>
          <a:lstStyle/>
          <a:p>
            <a:pPr marR="0" rtl="0"/>
            <a:r>
              <a:rPr lang="en-US" b="1" i="0" u="none" strike="noStrike" kern="100" baseline="0" dirty="0">
                <a:solidFill>
                  <a:srgbClr val="000000"/>
                </a:solidFill>
                <a:latin typeface="Times New Roman" panose="02020603050405020304" pitchFamily="18" charset="0"/>
              </a:rPr>
              <a:t>Conclusion and Strategic Recommendations</a:t>
            </a:r>
          </a:p>
        </p:txBody>
      </p:sp>
      <p:sp>
        <p:nvSpPr>
          <p:cNvPr id="3" name="Text Placeholder 2">
            <a:extLst>
              <a:ext uri="{FF2B5EF4-FFF2-40B4-BE49-F238E27FC236}">
                <a16:creationId xmlns:a16="http://schemas.microsoft.com/office/drawing/2014/main" id="{DC152D03-242C-E1D0-5F97-F5C7088A21D7}"/>
              </a:ext>
            </a:extLst>
          </p:cNvPr>
          <p:cNvSpPr>
            <a:spLocks noGrp="1"/>
          </p:cNvSpPr>
          <p:nvPr>
            <p:ph type="body" idx="1"/>
          </p:nvPr>
        </p:nvSpPr>
        <p:spPr/>
        <p:txBody>
          <a:bodyPr/>
          <a:lstStyle/>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AWS migration presents a concrete foundation in user development.</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Security and high availability have been guaranteed to all layers.</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Managed services can be useful in reducing the burden on the IT team.</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NAT Gateways should be used as a part of the future improvement.</a:t>
            </a:r>
          </a:p>
        </p:txBody>
      </p:sp>
    </p:spTree>
    <p:extLst>
      <p:ext uri="{BB962C8B-B14F-4D97-AF65-F5344CB8AC3E}">
        <p14:creationId xmlns:p14="http://schemas.microsoft.com/office/powerpoint/2010/main" val="20765953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186CB-602B-7C62-D851-EC63920317A8}"/>
              </a:ext>
            </a:extLst>
          </p:cNvPr>
          <p:cNvSpPr>
            <a:spLocks noGrp="1"/>
          </p:cNvSpPr>
          <p:nvPr>
            <p:ph type="title"/>
          </p:nvPr>
        </p:nvSpPr>
        <p:spPr/>
        <p:txBody>
          <a:bodyPr/>
          <a:lstStyle/>
          <a:p>
            <a:pPr marR="0" rtl="0"/>
            <a:r>
              <a:rPr lang="en-US" b="1" i="0" u="none" strike="noStrike" kern="100" baseline="0" dirty="0">
                <a:solidFill>
                  <a:srgbClr val="000000"/>
                </a:solidFill>
                <a:latin typeface="Times New Roman" panose="02020603050405020304" pitchFamily="18" charset="0"/>
              </a:rPr>
              <a:t>Technical Summary and Next Steps</a:t>
            </a:r>
          </a:p>
        </p:txBody>
      </p:sp>
      <p:sp>
        <p:nvSpPr>
          <p:cNvPr id="3" name="Text Placeholder 2">
            <a:extLst>
              <a:ext uri="{FF2B5EF4-FFF2-40B4-BE49-F238E27FC236}">
                <a16:creationId xmlns:a16="http://schemas.microsoft.com/office/drawing/2014/main" id="{68F7656D-FF7E-4595-115C-BA32963398D7}"/>
              </a:ext>
            </a:extLst>
          </p:cNvPr>
          <p:cNvSpPr>
            <a:spLocks noGrp="1"/>
          </p:cNvSpPr>
          <p:nvPr>
            <p:ph type="body" idx="1"/>
          </p:nvPr>
        </p:nvSpPr>
        <p:spPr>
          <a:xfrm>
            <a:off x="677334" y="1788056"/>
            <a:ext cx="8596668" cy="3880773"/>
          </a:xfrm>
        </p:spPr>
        <p:txBody>
          <a:bodyPr/>
          <a:lstStyle/>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Architecture diagrams confirm the successful deployment of a multi-AZ VPC.</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Live demonstrations prove that the Load Balancer functions correctly.</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EFS mount provides evidence of a scalable storage solution.</a:t>
            </a:r>
          </a:p>
          <a:p>
            <a:pPr marL="342900" marR="0" lvl="0" indent="-342900" algn="just">
              <a:lnSpc>
                <a:spcPct val="150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 GPO verification is made to ensure that administrative security policies are operating correctly.</a:t>
            </a:r>
          </a:p>
        </p:txBody>
      </p:sp>
    </p:spTree>
    <p:extLst>
      <p:ext uri="{BB962C8B-B14F-4D97-AF65-F5344CB8AC3E}">
        <p14:creationId xmlns:p14="http://schemas.microsoft.com/office/powerpoint/2010/main" val="41855987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B6C0B-96CB-6BDB-C1F9-10AB88DC71F7}"/>
              </a:ext>
            </a:extLst>
          </p:cNvPr>
          <p:cNvSpPr>
            <a:spLocks noGrp="1"/>
          </p:cNvSpPr>
          <p:nvPr>
            <p:ph type="title"/>
          </p:nvPr>
        </p:nvSpPr>
        <p:spPr/>
        <p:txBody>
          <a:bodyPr/>
          <a:lstStyle/>
          <a:p>
            <a:pPr marR="0" rtl="0"/>
            <a:r>
              <a:rPr lang="en-US" b="1" i="0" u="none" strike="noStrike" kern="100" baseline="0" dirty="0">
                <a:solidFill>
                  <a:srgbClr val="000000"/>
                </a:solidFill>
                <a:latin typeface="Times New Roman" panose="02020603050405020304" pitchFamily="18" charset="0"/>
              </a:rPr>
              <a:t>References</a:t>
            </a:r>
          </a:p>
        </p:txBody>
      </p:sp>
      <p:sp>
        <p:nvSpPr>
          <p:cNvPr id="3" name="Text Placeholder 2">
            <a:extLst>
              <a:ext uri="{FF2B5EF4-FFF2-40B4-BE49-F238E27FC236}">
                <a16:creationId xmlns:a16="http://schemas.microsoft.com/office/drawing/2014/main" id="{97863675-EBD0-CED1-CEE9-02A7179310E5}"/>
              </a:ext>
            </a:extLst>
          </p:cNvPr>
          <p:cNvSpPr>
            <a:spLocks noGrp="1"/>
          </p:cNvSpPr>
          <p:nvPr>
            <p:ph type="body" idx="1"/>
          </p:nvPr>
        </p:nvSpPr>
        <p:spPr>
          <a:xfrm>
            <a:off x="677334" y="1704623"/>
            <a:ext cx="8596668" cy="4336740"/>
          </a:xfrm>
        </p:spPr>
        <p:txBody>
          <a:bodyPr>
            <a:normAutofit fontScale="85000" lnSpcReduction="10000"/>
          </a:bodyPr>
          <a:lstStyle/>
          <a:p>
            <a:pPr marR="0" lvl="0" algn="just" rtl="0"/>
            <a:r>
              <a:rPr lang="en-US" i="0" u="none" strike="noStrike" kern="100" baseline="0" dirty="0">
                <a:solidFill>
                  <a:srgbClr val="000000"/>
                </a:solidFill>
                <a:latin typeface="Times New Roman" panose="02020603050405020304" pitchFamily="18" charset="0"/>
              </a:rPr>
              <a:t>Bhatia, R., 2025. Redefining Finance in the Cloud: Architecture, Intelligence, and Innovation. </a:t>
            </a:r>
            <a:r>
              <a:rPr lang="en-US" i="1" u="none" strike="noStrike" kern="100" baseline="0" dirty="0">
                <a:solidFill>
                  <a:srgbClr val="000000"/>
                </a:solidFill>
                <a:latin typeface="Times New Roman" panose="02020603050405020304" pitchFamily="18" charset="0"/>
              </a:rPr>
              <a:t>Journal of Computer Science and Technology Studies</a:t>
            </a:r>
            <a:r>
              <a:rPr lang="en-US" i="0" u="none" strike="noStrike" kern="100" baseline="0" dirty="0">
                <a:solidFill>
                  <a:srgbClr val="000000"/>
                </a:solidFill>
                <a:latin typeface="Times New Roman" panose="02020603050405020304" pitchFamily="18" charset="0"/>
              </a:rPr>
              <a:t>, </a:t>
            </a:r>
            <a:r>
              <a:rPr lang="en-US" i="1" u="none" strike="noStrike" kern="100" baseline="0" dirty="0">
                <a:solidFill>
                  <a:srgbClr val="000000"/>
                </a:solidFill>
                <a:latin typeface="Times New Roman" panose="02020603050405020304" pitchFamily="18" charset="0"/>
              </a:rPr>
              <a:t>7</a:t>
            </a:r>
            <a:r>
              <a:rPr lang="en-US" i="0" u="none" strike="noStrike" kern="100" baseline="0" dirty="0">
                <a:solidFill>
                  <a:srgbClr val="000000"/>
                </a:solidFill>
                <a:latin typeface="Times New Roman" panose="02020603050405020304" pitchFamily="18" charset="0"/>
              </a:rPr>
              <a:t>(8), pp.181-193.</a:t>
            </a:r>
          </a:p>
          <a:p>
            <a:pPr marR="0" lvl="0" algn="just" rtl="0"/>
            <a:r>
              <a:rPr lang="en-US" i="0" u="none" strike="noStrike" kern="100" baseline="0" dirty="0" err="1">
                <a:solidFill>
                  <a:srgbClr val="000000"/>
                </a:solidFill>
                <a:latin typeface="Times New Roman" panose="02020603050405020304" pitchFamily="18" charset="0"/>
              </a:rPr>
              <a:t>Boscain</a:t>
            </a:r>
            <a:r>
              <a:rPr lang="en-US" i="0" u="none" strike="noStrike" kern="100" baseline="0" dirty="0">
                <a:solidFill>
                  <a:srgbClr val="000000"/>
                </a:solidFill>
                <a:latin typeface="Times New Roman" panose="02020603050405020304" pitchFamily="18" charset="0"/>
              </a:rPr>
              <a:t>, S., 2023. </a:t>
            </a:r>
            <a:r>
              <a:rPr lang="en-US" i="1" u="none" strike="noStrike" kern="100" baseline="0" dirty="0">
                <a:solidFill>
                  <a:srgbClr val="000000"/>
                </a:solidFill>
                <a:latin typeface="Times New Roman" panose="02020603050405020304" pitchFamily="18" charset="0"/>
              </a:rPr>
              <a:t>AWS Cloud: Infrastructure, DevOps techniques, State of Art</a:t>
            </a:r>
            <a:r>
              <a:rPr lang="en-US" i="0" u="none" strike="noStrike" kern="100" baseline="0" dirty="0">
                <a:solidFill>
                  <a:srgbClr val="000000"/>
                </a:solidFill>
                <a:latin typeface="Times New Roman" panose="02020603050405020304" pitchFamily="18" charset="0"/>
              </a:rPr>
              <a:t> (Doctoral dissertation, Politecnico di Torino).</a:t>
            </a:r>
          </a:p>
          <a:p>
            <a:pPr marR="0" lvl="0" algn="just" rtl="0"/>
            <a:r>
              <a:rPr lang="en-US" i="0" u="none" strike="noStrike" kern="100" baseline="0" dirty="0">
                <a:solidFill>
                  <a:srgbClr val="000000"/>
                </a:solidFill>
                <a:latin typeface="Times New Roman" panose="02020603050405020304" pitchFamily="18" charset="0"/>
              </a:rPr>
              <a:t>Cherukuri, H.A.R.S.H.I.T.A., CHHAPOLA, A. and KAUSHIK, D.S., 2024. AWS full stack development for financial services. </a:t>
            </a:r>
            <a:r>
              <a:rPr lang="en-US" i="1" u="none" strike="noStrike" kern="100" baseline="0" dirty="0">
                <a:solidFill>
                  <a:srgbClr val="000000"/>
                </a:solidFill>
                <a:latin typeface="Times New Roman" panose="02020603050405020304" pitchFamily="18" charset="0"/>
              </a:rPr>
              <a:t>International Journal of Engineering Development and Research</a:t>
            </a:r>
            <a:r>
              <a:rPr lang="en-US" i="0" u="none" strike="noStrike" kern="100" baseline="0" dirty="0">
                <a:solidFill>
                  <a:srgbClr val="000000"/>
                </a:solidFill>
                <a:latin typeface="Times New Roman" panose="02020603050405020304" pitchFamily="18" charset="0"/>
              </a:rPr>
              <a:t>, </a:t>
            </a:r>
            <a:r>
              <a:rPr lang="en-US" i="1" u="none" strike="noStrike" kern="100" baseline="0" dirty="0">
                <a:solidFill>
                  <a:srgbClr val="000000"/>
                </a:solidFill>
                <a:latin typeface="Times New Roman" panose="02020603050405020304" pitchFamily="18" charset="0"/>
              </a:rPr>
              <a:t>12</a:t>
            </a:r>
            <a:r>
              <a:rPr lang="en-US" i="0" u="none" strike="noStrike" kern="100" baseline="0" dirty="0">
                <a:solidFill>
                  <a:srgbClr val="000000"/>
                </a:solidFill>
                <a:latin typeface="Times New Roman" panose="02020603050405020304" pitchFamily="18" charset="0"/>
              </a:rPr>
              <a:t>(3), pp.14-25.</a:t>
            </a:r>
          </a:p>
          <a:p>
            <a:pPr marR="0" lvl="0" algn="just" rtl="0"/>
            <a:r>
              <a:rPr lang="en-US" i="0" u="none" strike="noStrike" kern="100" baseline="0" dirty="0">
                <a:solidFill>
                  <a:srgbClr val="000000"/>
                </a:solidFill>
                <a:latin typeface="Times New Roman" panose="02020603050405020304" pitchFamily="18" charset="0"/>
              </a:rPr>
              <a:t>Nagraj, A., 2023. Cloud-Native Architectures in Financial Services: Enhancing Scalability and Security with AWS and Kubernetes. </a:t>
            </a:r>
            <a:r>
              <a:rPr lang="en-US" i="1" u="none" strike="noStrike" kern="100" baseline="0" dirty="0">
                <a:solidFill>
                  <a:srgbClr val="000000"/>
                </a:solidFill>
                <a:latin typeface="Times New Roman" panose="02020603050405020304" pitchFamily="18" charset="0"/>
              </a:rPr>
              <a:t>Journal of Computer Science and Technology Studies</a:t>
            </a:r>
            <a:r>
              <a:rPr lang="en-US" i="0" u="none" strike="noStrike" kern="100" baseline="0" dirty="0">
                <a:solidFill>
                  <a:srgbClr val="000000"/>
                </a:solidFill>
                <a:latin typeface="Times New Roman" panose="02020603050405020304" pitchFamily="18" charset="0"/>
              </a:rPr>
              <a:t>, </a:t>
            </a:r>
            <a:r>
              <a:rPr lang="en-US" i="1" u="none" strike="noStrike" kern="100" baseline="0" dirty="0">
                <a:solidFill>
                  <a:srgbClr val="000000"/>
                </a:solidFill>
                <a:latin typeface="Times New Roman" panose="02020603050405020304" pitchFamily="18" charset="0"/>
              </a:rPr>
              <a:t>5</a:t>
            </a:r>
            <a:r>
              <a:rPr lang="en-US" i="0" u="none" strike="noStrike" kern="100" baseline="0" dirty="0">
                <a:solidFill>
                  <a:srgbClr val="000000"/>
                </a:solidFill>
                <a:latin typeface="Times New Roman" panose="02020603050405020304" pitchFamily="18" charset="0"/>
              </a:rPr>
              <a:t>(4), pp.296-308.</a:t>
            </a:r>
          </a:p>
          <a:p>
            <a:pPr marR="0" lvl="0" algn="just" rtl="0"/>
            <a:r>
              <a:rPr lang="en-US" i="0" u="none" strike="noStrike" kern="100" baseline="0" dirty="0">
                <a:solidFill>
                  <a:srgbClr val="000000"/>
                </a:solidFill>
                <a:latin typeface="Times New Roman" panose="02020603050405020304" pitchFamily="18" charset="0"/>
              </a:rPr>
              <a:t>RAKIPLLARI, D., 2025. Designing and Implementing a High-Availability Infrastructure for a Web Application on AWS. </a:t>
            </a:r>
            <a:r>
              <a:rPr lang="en-US" i="1" u="none" strike="noStrike" kern="100" baseline="0" dirty="0">
                <a:solidFill>
                  <a:srgbClr val="000000"/>
                </a:solidFill>
                <a:latin typeface="Times New Roman" panose="02020603050405020304" pitchFamily="18" charset="0"/>
              </a:rPr>
              <a:t>Editorial Board</a:t>
            </a:r>
            <a:r>
              <a:rPr lang="en-US" i="0" u="none" strike="noStrike" kern="100" baseline="0" dirty="0">
                <a:solidFill>
                  <a:srgbClr val="000000"/>
                </a:solidFill>
                <a:latin typeface="Times New Roman" panose="02020603050405020304" pitchFamily="18" charset="0"/>
              </a:rPr>
              <a:t>, p.164.</a:t>
            </a:r>
          </a:p>
          <a:p>
            <a:pPr marR="0" lvl="0" algn="just" rtl="0"/>
            <a:r>
              <a:rPr lang="en-US" i="0" u="none" strike="noStrike" kern="100" baseline="0" dirty="0">
                <a:solidFill>
                  <a:srgbClr val="000000"/>
                </a:solidFill>
                <a:latin typeface="Times New Roman" panose="02020603050405020304" pitchFamily="18" charset="0"/>
              </a:rPr>
              <a:t>Thorne, E.J. and Valdez, S.H., 2025. A Systematic Review and Comparative Analysis of Amazon Web Services (AWS) Infrastructure: Architecture, Economic Implications, and Future Research Trajectories. </a:t>
            </a:r>
            <a:r>
              <a:rPr lang="en-US" i="1" u="none" strike="noStrike" kern="100" baseline="0" dirty="0">
                <a:solidFill>
                  <a:srgbClr val="000000"/>
                </a:solidFill>
                <a:latin typeface="Times New Roman" panose="02020603050405020304" pitchFamily="18" charset="0"/>
              </a:rPr>
              <a:t>Academic </a:t>
            </a:r>
            <a:r>
              <a:rPr lang="en-US" i="1" u="none" strike="noStrike" kern="100" baseline="0" dirty="0" err="1">
                <a:solidFill>
                  <a:srgbClr val="000000"/>
                </a:solidFill>
                <a:latin typeface="Times New Roman" panose="02020603050405020304" pitchFamily="18" charset="0"/>
              </a:rPr>
              <a:t>Reseach</a:t>
            </a:r>
            <a:r>
              <a:rPr lang="en-US" i="1" u="none" strike="noStrike" kern="100" baseline="0" dirty="0">
                <a:solidFill>
                  <a:srgbClr val="000000"/>
                </a:solidFill>
                <a:latin typeface="Times New Roman" panose="02020603050405020304" pitchFamily="18" charset="0"/>
              </a:rPr>
              <a:t> Library for International Journal of Computer Science &amp; Information System</a:t>
            </a:r>
            <a:r>
              <a:rPr lang="en-US" i="0" u="none" strike="noStrike" kern="100" baseline="0" dirty="0">
                <a:solidFill>
                  <a:srgbClr val="000000"/>
                </a:solidFill>
                <a:latin typeface="Times New Roman" panose="02020603050405020304" pitchFamily="18" charset="0"/>
              </a:rPr>
              <a:t>, </a:t>
            </a:r>
            <a:r>
              <a:rPr lang="en-US" i="1" u="none" strike="noStrike" kern="100" baseline="0" dirty="0">
                <a:solidFill>
                  <a:srgbClr val="000000"/>
                </a:solidFill>
                <a:latin typeface="Times New Roman" panose="02020603050405020304" pitchFamily="18" charset="0"/>
              </a:rPr>
              <a:t>10</a:t>
            </a:r>
            <a:r>
              <a:rPr lang="en-US" i="0" u="none" strike="noStrike" kern="100" baseline="0" dirty="0">
                <a:solidFill>
                  <a:srgbClr val="000000"/>
                </a:solidFill>
                <a:latin typeface="Times New Roman" panose="02020603050405020304" pitchFamily="18" charset="0"/>
              </a:rPr>
              <a:t>(10), pp.28-37.</a:t>
            </a:r>
          </a:p>
          <a:p>
            <a:pPr marR="0" lvl="0" algn="just" rtl="0"/>
            <a:r>
              <a:rPr lang="en-US" i="0" u="none" strike="noStrike" kern="100" baseline="0" dirty="0">
                <a:solidFill>
                  <a:srgbClr val="000000"/>
                </a:solidFill>
                <a:latin typeface="Times New Roman" panose="02020603050405020304" pitchFamily="18" charset="0"/>
              </a:rPr>
              <a:t>Thota, R.C., 2021. Cloud Security in Financial Services: Protecting Sensitive Data with AWS well-Architected Framework. </a:t>
            </a:r>
            <a:r>
              <a:rPr lang="en-US" i="1" u="none" strike="noStrike" kern="100" baseline="0" dirty="0">
                <a:solidFill>
                  <a:srgbClr val="000000"/>
                </a:solidFill>
                <a:latin typeface="Times New Roman" panose="02020603050405020304" pitchFamily="18" charset="0"/>
              </a:rPr>
              <a:t>International Journal of Novel Research and Development</a:t>
            </a:r>
            <a:r>
              <a:rPr lang="en-US" i="0" u="none" strike="noStrike" kern="100" baseline="0" dirty="0">
                <a:solidFill>
                  <a:srgbClr val="000000"/>
                </a:solidFill>
                <a:latin typeface="Times New Roman" panose="02020603050405020304" pitchFamily="18" charset="0"/>
              </a:rPr>
              <a:t>, </a:t>
            </a:r>
            <a:r>
              <a:rPr lang="en-US" i="1" u="none" strike="noStrike" kern="100" baseline="0" dirty="0">
                <a:solidFill>
                  <a:srgbClr val="000000"/>
                </a:solidFill>
                <a:latin typeface="Times New Roman" panose="02020603050405020304" pitchFamily="18" charset="0"/>
              </a:rPr>
              <a:t>6</a:t>
            </a:r>
            <a:r>
              <a:rPr lang="en-US" i="0" u="none" strike="noStrike" kern="100" baseline="0" dirty="0">
                <a:solidFill>
                  <a:srgbClr val="000000"/>
                </a:solidFill>
                <a:latin typeface="Times New Roman" panose="02020603050405020304" pitchFamily="18" charset="0"/>
              </a:rPr>
              <a:t>(4), pp.1-7.</a:t>
            </a:r>
          </a:p>
        </p:txBody>
      </p:sp>
    </p:spTree>
    <p:extLst>
      <p:ext uri="{BB962C8B-B14F-4D97-AF65-F5344CB8AC3E}">
        <p14:creationId xmlns:p14="http://schemas.microsoft.com/office/powerpoint/2010/main" val="169952164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10</TotalTime>
  <Words>1888</Words>
  <Application>Microsoft Office PowerPoint</Application>
  <PresentationFormat>Widescreen</PresentationFormat>
  <Paragraphs>114</Paragraphs>
  <Slides>17</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Symbol</vt:lpstr>
      <vt:lpstr>Times New Roman</vt:lpstr>
      <vt:lpstr>Trebuchet MS</vt:lpstr>
      <vt:lpstr>Wingdings 3</vt:lpstr>
      <vt:lpstr>Facet</vt:lpstr>
      <vt:lpstr>Infrastructure Architecture and Design Concepts for Financer</vt:lpstr>
      <vt:lpstr>Project Objectives</vt:lpstr>
      <vt:lpstr>Current Infrastructure Challenges and Pain Points</vt:lpstr>
      <vt:lpstr>Proposed AWS Architecture Overview</vt:lpstr>
      <vt:lpstr>Networking Design and Multi-AZ VPC Configuration</vt:lpstr>
      <vt:lpstr>Compute Layer: Auto Scaling Group Implementation</vt:lpstr>
      <vt:lpstr>Application Load Balancer Strategy</vt:lpstr>
      <vt:lpstr>Managed Database Services: Amazon RDS</vt:lpstr>
      <vt:lpstr>Scalable File Services: Amazon EFS</vt:lpstr>
      <vt:lpstr>Identity Management: AWS Managed Microsoft AD</vt:lpstr>
      <vt:lpstr>Security Implementation: Security Groups and Bastion Host</vt:lpstr>
      <vt:lpstr>Governance: Active Directory Groups and GPO</vt:lpstr>
      <vt:lpstr>High Availability and Disaster Recovery (DR)</vt:lpstr>
      <vt:lpstr>Migration Benefits: On-Premise vs. Cloud</vt:lpstr>
      <vt:lpstr>Conclusion and Strategic Recommendations</vt:lpstr>
      <vt:lpstr>Technical Summary and Next Steps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Infrastructure Architecture and Design Concepts for Financer</dc:title>
  <dc:creator>User</dc:creator>
  <cp:lastModifiedBy>K</cp:lastModifiedBy>
  <cp:revision>5</cp:revision>
  <dcterms:created xsi:type="dcterms:W3CDTF">2026-02-28T12:04:06Z</dcterms:created>
  <dcterms:modified xsi:type="dcterms:W3CDTF">2026-02-28T12:57:51Z</dcterms:modified>
</cp:coreProperties>
</file>