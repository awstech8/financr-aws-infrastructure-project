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1687C75-D8AE-4388-B22D-2F015E335AB1}" type="datetimeFigureOut">
              <a:rPr lang="en-US" smtClean="0"/>
              <a:t>2/28/2026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9539012F-79C7-4C22-B1D4-E1461D28A7D1}"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48865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687C75-D8AE-4388-B22D-2F015E335AB1}"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39012F-79C7-4C22-B1D4-E1461D28A7D1}"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89920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687C75-D8AE-4388-B22D-2F015E335AB1}"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39012F-79C7-4C22-B1D4-E1461D28A7D1}"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41614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1687C75-D8AE-4388-B22D-2F015E335AB1}" type="datetimeFigureOut">
              <a:rPr lang="en-US" smtClean="0"/>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39012F-79C7-4C22-B1D4-E1461D28A7D1}"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21283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1687C75-D8AE-4388-B22D-2F015E335AB1}" type="datetimeFigureOut">
              <a:rPr lang="en-US" smtClean="0"/>
              <a:t>2/28/2026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539012F-79C7-4C22-B1D4-E1461D28A7D1}"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9858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687C75-D8AE-4388-B22D-2F015E335AB1}" type="datetimeFigureOut">
              <a:rPr lang="en-US" smtClean="0"/>
              <a:t>2/28/2026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539012F-79C7-4C22-B1D4-E1461D28A7D1}"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19940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687C75-D8AE-4388-B22D-2F015E335AB1}" type="datetimeFigureOut">
              <a:rPr lang="en-US" smtClean="0"/>
              <a:t>2/28/2026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539012F-79C7-4C22-B1D4-E1461D28A7D1}" type="slidenum">
              <a:rPr lang="en-US" smtClean="0"/>
              <a:t>‹#›</a:t>
            </a:fld>
            <a:endParaRPr lang="en-US"/>
          </a:p>
        </p:txBody>
      </p:sp>
    </p:spTree>
    <p:extLst>
      <p:ext uri="{BB962C8B-B14F-4D97-AF65-F5344CB8AC3E}">
        <p14:creationId xmlns:p14="http://schemas.microsoft.com/office/powerpoint/2010/main" val="3554803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1687C75-D8AE-4388-B22D-2F015E335AB1}" type="datetimeFigureOut">
              <a:rPr lang="en-US" smtClean="0"/>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39012F-79C7-4C22-B1D4-E1461D28A7D1}"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30324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E1687C75-D8AE-4388-B22D-2F015E335AB1}" type="datetimeFigureOut">
              <a:rPr lang="en-US" smtClean="0"/>
              <a:t>2/28/2026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9539012F-79C7-4C22-B1D4-E1461D28A7D1}"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445606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687C75-D8AE-4388-B22D-2F015E335AB1}"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39012F-79C7-4C22-B1D4-E1461D28A7D1}"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76381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687C75-D8AE-4388-B22D-2F015E335AB1}"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39012F-79C7-4C22-B1D4-E1461D28A7D1}"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948687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6AC73-C6D0-132B-6854-0FB377F70D01}"/>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813A5D6E-3200-9D95-29B4-2CDB7F4B4AB5}"/>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CEBFD8-FF41-09D4-4864-3882217FC456}"/>
              </a:ext>
            </a:extLst>
          </p:cNvPr>
          <p:cNvSpPr>
            <a:spLocks noGrp="1"/>
          </p:cNvSpPr>
          <p:nvPr>
            <p:ph type="dt" sz="half" idx="10"/>
          </p:nvPr>
        </p:nvSpPr>
        <p:spPr/>
        <p:txBody>
          <a:bodyPr/>
          <a:lstStyle/>
          <a:p>
            <a:fld id="{E1687C75-D8AE-4388-B22D-2F015E335AB1}" type="datetimeFigureOut">
              <a:rPr lang="en-US" smtClean="0"/>
              <a:t>2/28/2026</a:t>
            </a:fld>
            <a:endParaRPr lang="en-US"/>
          </a:p>
        </p:txBody>
      </p:sp>
      <p:sp>
        <p:nvSpPr>
          <p:cNvPr id="5" name="Footer Placeholder 4">
            <a:extLst>
              <a:ext uri="{FF2B5EF4-FFF2-40B4-BE49-F238E27FC236}">
                <a16:creationId xmlns:a16="http://schemas.microsoft.com/office/drawing/2014/main" id="{B728E3D8-FA36-0CEE-FB59-A885022F1C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73349B-B52F-0972-8F1F-09F042F5E833}"/>
              </a:ext>
            </a:extLst>
          </p:cNvPr>
          <p:cNvSpPr>
            <a:spLocks noGrp="1"/>
          </p:cNvSpPr>
          <p:nvPr>
            <p:ph type="sldNum" sz="quarter" idx="12"/>
          </p:nvPr>
        </p:nvSpPr>
        <p:spPr/>
        <p:txBody>
          <a:bodyPr/>
          <a:lstStyle/>
          <a:p>
            <a:fld id="{9539012F-79C7-4C22-B1D4-E1461D28A7D1}" type="slidenum">
              <a:rPr lang="en-US" smtClean="0"/>
              <a:t>‹#›</a:t>
            </a:fld>
            <a:endParaRPr lang="en-US"/>
          </a:p>
        </p:txBody>
      </p:sp>
    </p:spTree>
    <p:extLst>
      <p:ext uri="{BB962C8B-B14F-4D97-AF65-F5344CB8AC3E}">
        <p14:creationId xmlns:p14="http://schemas.microsoft.com/office/powerpoint/2010/main" val="11502207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E1687C75-D8AE-4388-B22D-2F015E335AB1}" type="datetimeFigureOut">
              <a:rPr lang="en-US" smtClean="0"/>
              <a:t>2/28/2026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9539012F-79C7-4C22-B1D4-E1461D28A7D1}"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3251072"/>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8A263-925A-E93C-05B1-EF67E950BB7D}"/>
              </a:ext>
            </a:extLst>
          </p:cNvPr>
          <p:cNvSpPr>
            <a:spLocks noGrp="1"/>
          </p:cNvSpPr>
          <p:nvPr>
            <p:ph type="title"/>
          </p:nvPr>
        </p:nvSpPr>
        <p:spPr>
          <a:xfrm>
            <a:off x="838200" y="681038"/>
            <a:ext cx="10655105" cy="1688758"/>
          </a:xfrm>
        </p:spPr>
        <p:txBody>
          <a:bodyPr>
            <a:normAutofit/>
          </a:bodyPr>
          <a:lstStyle/>
          <a:p>
            <a:pPr marR="0" rtl="0"/>
            <a:r>
              <a:rPr lang="en-US" sz="2500" b="1" i="0" u="none" strike="noStrike" kern="100" baseline="0" dirty="0">
                <a:solidFill>
                  <a:srgbClr val="000000"/>
                </a:solidFill>
                <a:latin typeface="Times New Roman" panose="02020603050405020304" pitchFamily="18" charset="0"/>
              </a:rPr>
              <a:t>Question 1: Why are the application servers and databases placed within private subnets, and how does this impact the overall security posture?</a:t>
            </a:r>
          </a:p>
        </p:txBody>
      </p:sp>
      <p:sp>
        <p:nvSpPr>
          <p:cNvPr id="3" name="Text Placeholder 2">
            <a:extLst>
              <a:ext uri="{FF2B5EF4-FFF2-40B4-BE49-F238E27FC236}">
                <a16:creationId xmlns:a16="http://schemas.microsoft.com/office/drawing/2014/main" id="{22B18D2E-B1B9-E293-4920-47BA0609835E}"/>
              </a:ext>
            </a:extLst>
          </p:cNvPr>
          <p:cNvSpPr>
            <a:spLocks noGrp="1"/>
          </p:cNvSpPr>
          <p:nvPr>
            <p:ph type="body" idx="1"/>
          </p:nvPr>
        </p:nvSpPr>
        <p:spPr>
          <a:xfrm>
            <a:off x="838200" y="2757268"/>
            <a:ext cx="10515600" cy="2471958"/>
          </a:xfrm>
        </p:spPr>
        <p:txBody>
          <a:bodyPr/>
          <a:lstStyle/>
          <a:p>
            <a:pPr marL="0" marR="0" algn="just">
              <a:lnSpc>
                <a:spcPct val="150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Application servers and databases can be deployed in their subnets and security can be enhanced by making them not be exposed to the internet. This architecture will ensure that sensitive parts are not directly exposed to the public web since this will not enable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unauthorised</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external access. Only the Application Load Balancer in the public subnet will have the capability of redirecting the traffic to the web servers. This multi-layered solution will reduce the attack surface significantly.</a:t>
            </a:r>
          </a:p>
        </p:txBody>
      </p:sp>
    </p:spTree>
    <p:extLst>
      <p:ext uri="{BB962C8B-B14F-4D97-AF65-F5344CB8AC3E}">
        <p14:creationId xmlns:p14="http://schemas.microsoft.com/office/powerpoint/2010/main" val="3427303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F8663-69D7-288B-D01B-047173836DA0}"/>
              </a:ext>
            </a:extLst>
          </p:cNvPr>
          <p:cNvSpPr>
            <a:spLocks noGrp="1"/>
          </p:cNvSpPr>
          <p:nvPr>
            <p:ph type="title"/>
          </p:nvPr>
        </p:nvSpPr>
        <p:spPr>
          <a:xfrm>
            <a:off x="838200" y="681037"/>
            <a:ext cx="10515600" cy="1325563"/>
          </a:xfrm>
        </p:spPr>
        <p:txBody>
          <a:bodyPr>
            <a:normAutofit/>
          </a:bodyPr>
          <a:lstStyle/>
          <a:p>
            <a:pPr marR="0" rtl="0"/>
            <a:r>
              <a:rPr lang="en-US" sz="2500" b="1" i="0" u="none" strike="noStrike" kern="100" baseline="0" dirty="0">
                <a:solidFill>
                  <a:srgbClr val="000000"/>
                </a:solidFill>
                <a:latin typeface="Times New Roman" panose="02020603050405020304" pitchFamily="18" charset="0"/>
              </a:rPr>
              <a:t>Question 2: How does the implementation of a Multi-AZ strategy across six zones ensure the availability of </a:t>
            </a:r>
            <a:r>
              <a:rPr lang="en-US" sz="2500" b="1" i="0" u="none" strike="noStrike" kern="100" baseline="0" dirty="0" err="1">
                <a:solidFill>
                  <a:srgbClr val="000000"/>
                </a:solidFill>
                <a:latin typeface="Times New Roman" panose="02020603050405020304" pitchFamily="18" charset="0"/>
              </a:rPr>
              <a:t>Financr’s</a:t>
            </a:r>
            <a:r>
              <a:rPr lang="en-US" sz="2500" b="1" i="0" u="none" strike="noStrike" kern="100" baseline="0" dirty="0">
                <a:solidFill>
                  <a:srgbClr val="000000"/>
                </a:solidFill>
                <a:latin typeface="Times New Roman" panose="02020603050405020304" pitchFamily="18" charset="0"/>
              </a:rPr>
              <a:t> financial services?</a:t>
            </a:r>
          </a:p>
        </p:txBody>
      </p:sp>
      <p:sp>
        <p:nvSpPr>
          <p:cNvPr id="3" name="Text Placeholder 2">
            <a:extLst>
              <a:ext uri="{FF2B5EF4-FFF2-40B4-BE49-F238E27FC236}">
                <a16:creationId xmlns:a16="http://schemas.microsoft.com/office/drawing/2014/main" id="{6CB4C3A7-F867-8993-9D14-B8402E19CFD7}"/>
              </a:ext>
            </a:extLst>
          </p:cNvPr>
          <p:cNvSpPr>
            <a:spLocks noGrp="1"/>
          </p:cNvSpPr>
          <p:nvPr>
            <p:ph type="body" idx="1"/>
          </p:nvPr>
        </p:nvSpPr>
        <p:spPr>
          <a:xfrm>
            <a:off x="838200" y="2616591"/>
            <a:ext cx="10515600" cy="3560372"/>
          </a:xfrm>
        </p:spPr>
        <p:txBody>
          <a:bodyPr/>
          <a:lstStyle/>
          <a:p>
            <a:pPr marL="0" marR="0" algn="just">
              <a:lnSpc>
                <a:spcPct val="150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layout is distributed to the six availability zones of the us-east-1 region to achieve full-service coverage. Health checks are used in the Application Load Balancer to know about the impairment of the failure in the event of a catastrophic failure of a data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centre</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or a zone. It then redirects traffic to healthy cases in the other sections of the areas that are operational. Meanwhile, Auto Scaling Group automatically launches new instances to maintain the capacity.</a:t>
            </a:r>
          </a:p>
        </p:txBody>
      </p:sp>
    </p:spTree>
    <p:extLst>
      <p:ext uri="{BB962C8B-B14F-4D97-AF65-F5344CB8AC3E}">
        <p14:creationId xmlns:p14="http://schemas.microsoft.com/office/powerpoint/2010/main" val="239073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3320-A884-E40A-65DB-A676E17169BE}"/>
              </a:ext>
            </a:extLst>
          </p:cNvPr>
          <p:cNvSpPr>
            <a:spLocks noGrp="1"/>
          </p:cNvSpPr>
          <p:nvPr>
            <p:ph type="title"/>
          </p:nvPr>
        </p:nvSpPr>
        <p:spPr>
          <a:xfrm>
            <a:off x="838200" y="681038"/>
            <a:ext cx="10515600" cy="1325563"/>
          </a:xfrm>
        </p:spPr>
        <p:txBody>
          <a:bodyPr>
            <a:normAutofit/>
          </a:bodyPr>
          <a:lstStyle/>
          <a:p>
            <a:pPr marR="0" rtl="0"/>
            <a:r>
              <a:rPr lang="en-US" sz="2500" b="1" i="0" u="none" strike="noStrike" kern="100" baseline="0" dirty="0">
                <a:solidFill>
                  <a:srgbClr val="000000"/>
                </a:solidFill>
                <a:latin typeface="Times New Roman" panose="02020603050405020304" pitchFamily="18" charset="0"/>
              </a:rPr>
              <a:t>Question 3: In what ways does the use of Amazon RDS Multi-AZ deployment improve the reliability of the PostgreSQL database tier?</a:t>
            </a:r>
          </a:p>
        </p:txBody>
      </p:sp>
      <p:sp>
        <p:nvSpPr>
          <p:cNvPr id="3" name="Text Placeholder 2">
            <a:extLst>
              <a:ext uri="{FF2B5EF4-FFF2-40B4-BE49-F238E27FC236}">
                <a16:creationId xmlns:a16="http://schemas.microsoft.com/office/drawing/2014/main" id="{0C52E5D8-DF01-F5B0-4727-C22ED38ACB3F}"/>
              </a:ext>
            </a:extLst>
          </p:cNvPr>
          <p:cNvSpPr>
            <a:spLocks noGrp="1"/>
          </p:cNvSpPr>
          <p:nvPr>
            <p:ph type="body" idx="1"/>
          </p:nvPr>
        </p:nvSpPr>
        <p:spPr>
          <a:xfrm>
            <a:off x="838200" y="2377439"/>
            <a:ext cx="10515600" cy="3799523"/>
          </a:xfrm>
        </p:spPr>
        <p:txBody>
          <a:bodyPr/>
          <a:lstStyle/>
          <a:p>
            <a:pPr marL="0" marR="0" algn="just">
              <a:lnSpc>
                <a:spcPct val="150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Amazon RDS Multi-AZ implementation is necessary in the provision of reliability in the financial systems. In this configuration, there is a synchronous standby instance in a separate zone and this prevents the loss of any data in case of failure. RDs will be configured with an automatic failover of the standby instance in the event of the main database going offline. This will minimize downtime, and will not require any human intervention. In this way,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Financr</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possesses high data resilience rates and unlimited access to transactional records, which is absolutely imperative to meet the regulatory financial standards.</a:t>
            </a:r>
          </a:p>
        </p:txBody>
      </p:sp>
    </p:spTree>
    <p:extLst>
      <p:ext uri="{BB962C8B-B14F-4D97-AF65-F5344CB8AC3E}">
        <p14:creationId xmlns:p14="http://schemas.microsoft.com/office/powerpoint/2010/main" val="1126963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28376-86AA-C1DC-092B-F00CEAC4DF88}"/>
              </a:ext>
            </a:extLst>
          </p:cNvPr>
          <p:cNvSpPr>
            <a:spLocks noGrp="1"/>
          </p:cNvSpPr>
          <p:nvPr>
            <p:ph type="title"/>
          </p:nvPr>
        </p:nvSpPr>
        <p:spPr>
          <a:xfrm>
            <a:off x="838200" y="681037"/>
            <a:ext cx="10515600" cy="1325563"/>
          </a:xfrm>
        </p:spPr>
        <p:txBody>
          <a:bodyPr>
            <a:normAutofit fontScale="90000"/>
          </a:bodyPr>
          <a:lstStyle/>
          <a:p>
            <a:pPr marR="0" rtl="0"/>
            <a:r>
              <a:rPr lang="en-US" sz="2500" b="1" i="0" u="none" strike="noStrike" kern="100" baseline="0" dirty="0">
                <a:solidFill>
                  <a:srgbClr val="000000"/>
                </a:solidFill>
                <a:latin typeface="Times New Roman" panose="02020603050405020304" pitchFamily="18" charset="0"/>
              </a:rPr>
              <a:t>Question 4: How do Active Directory Group Policy Objects and </a:t>
            </a:r>
            <a:r>
              <a:rPr lang="en-US" sz="2500" b="1" i="0" u="none" strike="noStrike" kern="100" baseline="0" dirty="0" err="1">
                <a:solidFill>
                  <a:srgbClr val="000000"/>
                </a:solidFill>
                <a:latin typeface="Times New Roman" panose="02020603050405020304" pitchFamily="18" charset="0"/>
              </a:rPr>
              <a:t>Organisational</a:t>
            </a:r>
            <a:r>
              <a:rPr lang="en-US" sz="2500" b="1" i="0" u="none" strike="noStrike" kern="100" baseline="0" dirty="0">
                <a:solidFill>
                  <a:srgbClr val="000000"/>
                </a:solidFill>
                <a:latin typeface="Times New Roman" panose="02020603050405020304" pitchFamily="18" charset="0"/>
              </a:rPr>
              <a:t> Units contribute to the internal security and governance of the cloud environment?</a:t>
            </a:r>
          </a:p>
        </p:txBody>
      </p:sp>
      <p:sp>
        <p:nvSpPr>
          <p:cNvPr id="3" name="Text Placeholder 2">
            <a:extLst>
              <a:ext uri="{FF2B5EF4-FFF2-40B4-BE49-F238E27FC236}">
                <a16:creationId xmlns:a16="http://schemas.microsoft.com/office/drawing/2014/main" id="{BD0D7B2A-A0D3-B738-3691-A34328E608C6}"/>
              </a:ext>
            </a:extLst>
          </p:cNvPr>
          <p:cNvSpPr>
            <a:spLocks noGrp="1"/>
          </p:cNvSpPr>
          <p:nvPr>
            <p:ph type="body" idx="1"/>
          </p:nvPr>
        </p:nvSpPr>
        <p:spPr>
          <a:xfrm>
            <a:off x="838200" y="2532185"/>
            <a:ext cx="10515600" cy="3644778"/>
          </a:xfrm>
        </p:spPr>
        <p:txBody>
          <a:bodyPr/>
          <a:lstStyle/>
          <a:p>
            <a:pPr marL="0" marR="0" algn="just">
              <a:lnSpc>
                <a:spcPct val="150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application of AWS Managed Microsoft AD and Group Policy Objects provides enough governance and internal protection. The controls that are least privilege to access apply through the isolation of the staff to specific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organisational</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units. Non-administrators are not permitted to make changes to network configurations on the bastion host by the GPO, which eradicates the dangers of in-house malpractice or malice. This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centralisation</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of power is necessary to make sure that the administrative actions are reviewed and controlled to improve the overall security system and protect the integrity of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Financr</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significant resources.</a:t>
            </a:r>
          </a:p>
        </p:txBody>
      </p:sp>
    </p:spTree>
    <p:extLst>
      <p:ext uri="{BB962C8B-B14F-4D97-AF65-F5344CB8AC3E}">
        <p14:creationId xmlns:p14="http://schemas.microsoft.com/office/powerpoint/2010/main" val="2969778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54ED9-F2F1-6B45-C3F1-AF81793ED3CA}"/>
              </a:ext>
            </a:extLst>
          </p:cNvPr>
          <p:cNvSpPr>
            <a:spLocks noGrp="1"/>
          </p:cNvSpPr>
          <p:nvPr>
            <p:ph type="title"/>
          </p:nvPr>
        </p:nvSpPr>
        <p:spPr>
          <a:xfrm>
            <a:off x="838200" y="548005"/>
            <a:ext cx="10515600" cy="1325563"/>
          </a:xfrm>
        </p:spPr>
        <p:txBody>
          <a:bodyPr>
            <a:normAutofit/>
          </a:bodyPr>
          <a:lstStyle/>
          <a:p>
            <a:pPr marR="0" rtl="0"/>
            <a:r>
              <a:rPr lang="en-US" sz="2500" b="1" i="0" u="none" strike="noStrike" kern="100" baseline="0" dirty="0">
                <a:solidFill>
                  <a:srgbClr val="000000"/>
                </a:solidFill>
                <a:latin typeface="Times New Roman" panose="02020603050405020304" pitchFamily="18" charset="0"/>
              </a:rPr>
              <a:t>Question 5: How does the combination of an Application Load Balancer and Auto Scaling Group enhance the reliability of the platform during traffic surges?</a:t>
            </a:r>
          </a:p>
        </p:txBody>
      </p:sp>
      <p:sp>
        <p:nvSpPr>
          <p:cNvPr id="3" name="Text Placeholder 2">
            <a:extLst>
              <a:ext uri="{FF2B5EF4-FFF2-40B4-BE49-F238E27FC236}">
                <a16:creationId xmlns:a16="http://schemas.microsoft.com/office/drawing/2014/main" id="{73DEDB1B-157A-6298-D02D-0EDC43F25D26}"/>
              </a:ext>
            </a:extLst>
          </p:cNvPr>
          <p:cNvSpPr>
            <a:spLocks noGrp="1"/>
          </p:cNvSpPr>
          <p:nvPr>
            <p:ph type="body" idx="1"/>
          </p:nvPr>
        </p:nvSpPr>
        <p:spPr>
          <a:xfrm>
            <a:off x="838200" y="2504049"/>
            <a:ext cx="10515600" cy="3672914"/>
          </a:xfrm>
        </p:spPr>
        <p:txBody>
          <a:bodyPr/>
          <a:lstStyle/>
          <a:p>
            <a:pPr marL="0" marR="0" algn="just">
              <a:lnSpc>
                <a:spcPct val="150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combination of the Auto Scaling Group and Application Load Balancer is more reliable because it can resolve traffic spikes in time. The load balancer will also distribute the traffic it receives to multiple web servers such that none of them will be a bottleneck. The scaling group adds the instances automatically with increase in load. It is elasticized in order to ensure that the use is responsive during the peak times.</a:t>
            </a:r>
          </a:p>
        </p:txBody>
      </p:sp>
    </p:spTree>
    <p:extLst>
      <p:ext uri="{BB962C8B-B14F-4D97-AF65-F5344CB8AC3E}">
        <p14:creationId xmlns:p14="http://schemas.microsoft.com/office/powerpoint/2010/main" val="15538823"/>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2</TotalTime>
  <Words>564</Words>
  <Application>Microsoft Office PowerPoint</Application>
  <PresentationFormat>Widescreen</PresentationFormat>
  <Paragraphs>10</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Gill Sans MT</vt:lpstr>
      <vt:lpstr>Times New Roman</vt:lpstr>
      <vt:lpstr>Gallery</vt:lpstr>
      <vt:lpstr>Question 1: Why are the application servers and databases placed within private subnets, and how does this impact the overall security posture?</vt:lpstr>
      <vt:lpstr>Question 2: How does the implementation of a Multi-AZ strategy across six zones ensure the availability of Financr’s financial services?</vt:lpstr>
      <vt:lpstr>Question 3: In what ways does the use of Amazon RDS Multi-AZ deployment improve the reliability of the PostgreSQL database tier?</vt:lpstr>
      <vt:lpstr>Question 4: How do Active Directory Group Policy Objects and Organisational Units contribute to the internal security and governance of the cloud environment?</vt:lpstr>
      <vt:lpstr>Question 5: How does the combination of an Application Load Balancer and Auto Scaling Group enhance the reliability of the platform during traffic surges?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Question 1: Why are the application servers and databases placed within private subnets, and how does this impact the overall security posture?</dc:title>
  <dc:creator>User</dc:creator>
  <cp:lastModifiedBy>K</cp:lastModifiedBy>
  <cp:revision>4</cp:revision>
  <dcterms:created xsi:type="dcterms:W3CDTF">2026-02-28T11:57:31Z</dcterms:created>
  <dcterms:modified xsi:type="dcterms:W3CDTF">2026-02-28T12:58:53Z</dcterms:modified>
</cp:coreProperties>
</file>